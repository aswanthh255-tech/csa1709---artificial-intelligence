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_rels/.rels" ContentType="application/vnd.openxmlformats-package.relationshi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_rels/presentation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rtl="0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7772400" cy="100584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146C47B-5627-44BD-961F-E1BFFEF105B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2EDBC40-5380-416D-893D-E34DB97B3B7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388440" y="401040"/>
            <a:ext cx="6994800" cy="1679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Double-tap to edit the title text format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388440" y="2353320"/>
            <a:ext cx="6994800" cy="583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Double-tap to edit the outline text format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3"/>
          <p:cNvGraphicFramePr/>
          <p:nvPr/>
        </p:nvGraphicFramePr>
        <p:xfrm>
          <a:off x="660240" y="1580040"/>
          <a:ext cx="6451200" cy="1145160"/>
        </p:xfrm>
        <a:graphic>
          <a:graphicData uri="http://schemas.openxmlformats.org/drawingml/2006/table">
            <a:tbl>
              <a:tblPr rtl="0" firstCol="0" lastCol="0" firstRow="0" lastRow="0" bandRow="0" bandCol="0"/>
              <a:tblGrid>
                <a:gridCol w="3225600"/>
                <a:gridCol w="3225600"/>
              </a:tblGrid>
              <a:tr h="265320">
                <a:tc>
                  <a:txBody>
                    <a:bodyPr lIns="0" rIns="0" tIns="13680" bIns="0" anchor="t">
                      <a:noAutofit/>
                    </a:bodyPr>
                    <a:p>
                      <a:pPr marL="68760" defTabSz="914400">
                        <a:lnSpc>
                          <a:spcPts val="1029"/>
                        </a:lnSpc>
                        <a:tabLst>
                          <a:tab algn="l" pos="0"/>
                        </a:tabLst>
                      </a:pPr>
                      <a:r>
                        <a:rPr b="1" lang="en-US" sz="800" spc="23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COURSE NAME: Artificial Intelligence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13680" bIns="0" anchor="t">
                      <a:noAutofit/>
                    </a:bodyPr>
                    <a:p>
                      <a:pPr marL="68760" defTabSz="914400">
                        <a:lnSpc>
                          <a:spcPts val="1029"/>
                        </a:lnSpc>
                        <a:tabLst>
                          <a:tab algn="l" pos="0"/>
                        </a:tabLst>
                      </a:pPr>
                      <a:r>
                        <a:rPr b="1" lang="en-US" sz="800" spc="23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COURSE CODE: CSA17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879840">
                <a:tc gridSpan="2">
                  <a:txBody>
                    <a:bodyPr lIns="0" rIns="0" tIns="0" bIns="0" anchor="t">
                      <a:noAutofit/>
                    </a:bodyPr>
                    <a:p>
                      <a:pPr defTabSz="914400">
                        <a:lnSpc>
                          <a:spcPts val="0"/>
                        </a:lnSpc>
                      </a:pPr>
                      <a:endParaRPr b="0" lang="en-US" sz="11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68760" defTabSz="914400">
                        <a:lnSpc>
                          <a:spcPts val="1040"/>
                        </a:lnSpc>
                        <a:spcBef>
                          <a:spcPts val="99"/>
                        </a:spcBef>
                        <a:tabLst>
                          <a:tab algn="l" pos="0"/>
                        </a:tabLst>
                      </a:pPr>
                      <a:r>
                        <a:rPr b="0" lang="en-US" sz="800" spc="-23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COURSE OUTCOME COVERED 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68760" defTabSz="914400">
                        <a:lnSpc>
                          <a:spcPts val="1040"/>
                        </a:lnSpc>
                        <a:spcBef>
                          <a:spcPts val="581"/>
                        </a:spcBef>
                        <a:tabLst>
                          <a:tab algn="l" pos="0"/>
                        </a:tabLst>
                      </a:pPr>
                      <a:r>
                        <a:rPr b="0" lang="en-US" sz="800" spc="3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CO1: Apply AI basics such as intelligent agents and uninformed search methods to solve problems effectively. (BL3) 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68760" defTabSz="914400">
                        <a:lnSpc>
                          <a:spcPts val="1040"/>
                        </a:lnSpc>
                        <a:spcBef>
                          <a:spcPts val="2239"/>
                        </a:spcBef>
                        <a:tabLst>
                          <a:tab algn="l" pos="0"/>
                        </a:tabLst>
                      </a:pPr>
                      <a:r>
                        <a:rPr b="0" lang="en-US" sz="800" spc="6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Assessment Tool Weightage: 35%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fc9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2"/>
          <p:cNvSpPr/>
          <p:nvPr/>
        </p:nvSpPr>
        <p:spPr>
          <a:xfrm>
            <a:off x="2735640" y="603360"/>
            <a:ext cx="2294640" cy="57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ts val="1749"/>
              </a:lnSpc>
              <a:tabLst>
                <a:tab algn="l" pos="0"/>
              </a:tabLst>
            </a:pPr>
            <a:r>
              <a:rPr b="1" lang="en" sz="1550" spc="-14" strike="noStrike" u="none">
                <a:solidFill>
                  <a:srgbClr val="000000"/>
                </a:solidFill>
                <a:uFillTx/>
                <a:latin typeface="Times New Roman"/>
              </a:rPr>
              <a:t>SIMATS ENGINEERING</a:t>
            </a:r>
            <a:endParaRPr b="0" lang="en-US" sz="15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83320" defTabSz="914400">
              <a:lnSpc>
                <a:spcPts val="1429"/>
              </a:lnSpc>
              <a:spcBef>
                <a:spcPts val="1389"/>
              </a:spcBef>
              <a:tabLst>
                <a:tab algn="l" pos="0"/>
              </a:tabLst>
            </a:pPr>
            <a:r>
              <a:rPr b="1" lang="en-US" sz="1250" spc="17" strike="noStrike" u="none">
                <a:solidFill>
                  <a:srgbClr val="000000"/>
                </a:solidFill>
                <a:uFillTx/>
                <a:latin typeface="Times New Roman"/>
              </a:rPr>
              <a:t>ASSESSMENT TOOL 2</a:t>
            </a:r>
            <a:endParaRPr b="0" lang="en-US" sz="12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" name="TextBox 4"/>
          <p:cNvSpPr/>
          <p:nvPr/>
        </p:nvSpPr>
        <p:spPr>
          <a:xfrm>
            <a:off x="659160" y="2999880"/>
            <a:ext cx="6265800" cy="241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marL="2044800" defTabSz="914400">
              <a:lnSpc>
                <a:spcPts val="989"/>
              </a:lnSpc>
              <a:tabLst>
                <a:tab algn="l" pos="0"/>
              </a:tabLst>
            </a:pPr>
            <a:r>
              <a:rPr b="1" lang="en" sz="900" spc="-3" strike="noStrike" u="none">
                <a:solidFill>
                  <a:srgbClr val="000000"/>
                </a:solidFill>
                <a:uFillTx/>
                <a:latin typeface="Times New Roman"/>
              </a:rPr>
              <a:t>QUESTIONS: 3                         Duration: 1 Hour 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832120" defTabSz="914400">
              <a:lnSpc>
                <a:spcPts val="989"/>
              </a:lnSpc>
              <a:spcBef>
                <a:spcPts val="558"/>
              </a:spcBef>
              <a:tabLst>
                <a:tab algn="l" pos="0"/>
              </a:tabLst>
            </a:pPr>
            <a:r>
              <a:rPr b="1" lang="en-US" sz="900" strike="noStrike" u="none">
                <a:solidFill>
                  <a:srgbClr val="000000"/>
                </a:solidFill>
                <a:uFillTx/>
                <a:latin typeface="Times New Roman"/>
              </a:rPr>
              <a:t>Total Marks: 30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799000" defTabSz="914400">
              <a:lnSpc>
                <a:spcPts val="1440"/>
              </a:lnSpc>
              <a:spcBef>
                <a:spcPts val="918"/>
              </a:spcBef>
              <a:tabLst>
                <a:tab algn="l" pos="0"/>
              </a:tabLst>
            </a:pPr>
            <a:r>
              <a:rPr b="1" lang="en-US" sz="1250" spc="31" strike="noStrike" u="none">
                <a:solidFill>
                  <a:srgbClr val="000000"/>
                </a:solidFill>
                <a:uFillTx/>
                <a:latin typeface="Times New Roman"/>
              </a:rPr>
              <a:t>Annexure A </a:t>
            </a:r>
            <a:endParaRPr b="0" lang="en-US" sz="12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002680" defTabSz="914400">
              <a:lnSpc>
                <a:spcPts val="1440"/>
              </a:lnSpc>
              <a:spcBef>
                <a:spcPts val="3061"/>
              </a:spcBef>
              <a:tabLst>
                <a:tab algn="l" pos="0"/>
              </a:tabLst>
            </a:pPr>
            <a:r>
              <a:rPr b="1" lang="en-US" sz="1250" spc="31" strike="noStrike" u="none">
                <a:solidFill>
                  <a:srgbClr val="000000"/>
                </a:solidFill>
                <a:uFillTx/>
                <a:latin typeface="Times New Roman"/>
              </a:rPr>
              <a:t>Constraint-Based Problem Solving</a:t>
            </a:r>
            <a:endParaRPr b="0" lang="en-US" sz="12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989"/>
              </a:lnSpc>
              <a:spcBef>
                <a:spcPts val="3169"/>
              </a:spcBef>
              <a:tabLst>
                <a:tab algn="l" pos="0"/>
              </a:tabLst>
            </a:pPr>
            <a:r>
              <a:rPr b="1" lang="en-US" sz="900" spc="-6" strike="noStrike" u="none">
                <a:solidFill>
                  <a:srgbClr val="000000"/>
                </a:solidFill>
                <a:uFillTx/>
                <a:latin typeface="Times New Roman"/>
              </a:rPr>
              <a:t>Code of Conduct: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989"/>
              </a:lnSpc>
              <a:spcBef>
                <a:spcPts val="918"/>
              </a:spcBef>
              <a:tabLst>
                <a:tab algn="l" pos="0"/>
              </a:tabLst>
            </a:pPr>
            <a:r>
              <a:rPr b="0" lang="en-US" sz="900" spc="-23" strike="noStrike" u="none">
                <a:solidFill>
                  <a:srgbClr val="000000"/>
                </a:solidFill>
                <a:uFillTx/>
                <a:latin typeface="Times New Roman"/>
              </a:rPr>
              <a:t>I V. Aswanthan Ragesh certify that this submission is my original work and that I have adhered to the guidelines specified for this assessment. I 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001"/>
              </a:lnSpc>
              <a:spcBef>
                <a:spcPts val="590"/>
              </a:spcBef>
              <a:tabLst>
                <a:tab algn="l" pos="0"/>
              </a:tabLst>
            </a:pPr>
            <a:r>
              <a:rPr b="0" lang="en-US" sz="900" spc="-23" strike="noStrike" u="none">
                <a:solidFill>
                  <a:srgbClr val="000000"/>
                </a:solidFill>
                <a:uFillTx/>
                <a:latin typeface="Times New Roman"/>
              </a:rPr>
              <a:t>understand that any violation of academic integrity rules will result in disciplinary action. 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989"/>
              </a:lnSpc>
              <a:spcBef>
                <a:spcPts val="950"/>
              </a:spcBef>
              <a:tabLst>
                <a:tab algn="l" pos="0"/>
              </a:tabLst>
            </a:pPr>
            <a:r>
              <a:rPr b="0" lang="en-US" sz="900" spc="-23" strike="noStrike" u="none">
                <a:solidFill>
                  <a:srgbClr val="000000"/>
                </a:solidFill>
                <a:uFillTx/>
                <a:latin typeface="Times New Roman"/>
              </a:rPr>
              <a:t>Signature of the student: V. Aswanthan Ragesh 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3"/>
          <p:cNvGraphicFramePr/>
          <p:nvPr/>
        </p:nvGraphicFramePr>
        <p:xfrm>
          <a:off x="660240" y="1690200"/>
          <a:ext cx="6451200" cy="1627920"/>
        </p:xfrm>
        <a:graphic>
          <a:graphicData uri="http://schemas.openxmlformats.org/drawingml/2006/table">
            <a:tbl>
              <a:tblPr rtl="0" firstCol="0" lastCol="0" firstRow="0" lastRow="0" bandRow="0" bandCol="0"/>
              <a:tblGrid>
                <a:gridCol w="3225600"/>
                <a:gridCol w="3225600"/>
              </a:tblGrid>
              <a:tr h="228600">
                <a:tc>
                  <a:txBody>
                    <a:bodyPr lIns="0" rIns="0" tIns="1080" bIns="0" anchor="t">
                      <a:noAutofit/>
                    </a:bodyPr>
                    <a:p>
                      <a:pPr marL="135900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1" lang="en-US" sz="650" spc="17" strike="noStrike" u="none">
                          <a:solidFill>
                            <a:srgbClr val="ffffff"/>
                          </a:solidFill>
                          <a:uFillTx/>
                          <a:latin typeface="Times New Roman"/>
                        </a:rPr>
                        <a:t>Component</a:t>
                      </a:r>
                      <a:endParaRPr b="0" lang="en-US" sz="65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lIns="0" rIns="0" tIns="1080" bIns="0" anchor="t">
                      <a:noAutofit/>
                    </a:bodyPr>
                    <a:p>
                      <a:pPr marL="139464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1" lang="en-US" sz="650" spc="9" strike="noStrike" u="none">
                          <a:solidFill>
                            <a:srgbClr val="ffffff"/>
                          </a:solidFill>
                          <a:uFillTx/>
                          <a:latin typeface="Times New Roman"/>
                        </a:rPr>
                        <a:t>Definition</a:t>
                      </a:r>
                      <a:endParaRPr b="0" lang="en-US" sz="65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</a:tr>
              <a:tr h="232200">
                <a:tc>
                  <a:txBody>
                    <a:bodyPr lIns="0" rIns="0" tIns="6120" bIns="0" anchor="t">
                      <a:noAutofit/>
                    </a:bodyPr>
                    <a:p>
                      <a:pPr marL="68760" defTabSz="91440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3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Variables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6120" bIns="0" anchor="t">
                      <a:noAutofit/>
                    </a:bodyPr>
                    <a:p>
                      <a:pPr marL="68760" defTabSz="91440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-6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D1, D2, D3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33640">
                <a:tc>
                  <a:txBody>
                    <a:bodyPr lIns="0" rIns="0" tIns="6120" bIns="0" anchor="t">
                      <a:noAutofit/>
                    </a:bodyPr>
                    <a:p>
                      <a:pPr marL="6876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-17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Domains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lIns="0" rIns="0" tIns="6120" bIns="0" anchor="t">
                      <a:noAutofit/>
                    </a:bodyPr>
                    <a:p>
                      <a:pPr marL="6876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-3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Each variable has domain {Morning, Afternoon, Night}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233640">
                <a:tc>
                  <a:txBody>
                    <a:bodyPr lIns="0" rIns="0" tIns="2520" bIns="0" anchor="t">
                      <a:noAutofit/>
                    </a:bodyPr>
                    <a:p>
                      <a:pPr marL="68760" defTabSz="91440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All-different constraint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2520" bIns="0" anchor="t">
                      <a:noAutofit/>
                    </a:bodyPr>
                    <a:p>
                      <a:pPr marL="68760" defTabSz="91440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D1, D2 and D3 must be assigned different shifts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33640">
                <a:tc>
                  <a:txBody>
                    <a:bodyPr lIns="0" rIns="0" tIns="1080" bIns="0" anchor="t">
                      <a:noAutofit/>
                    </a:bodyPr>
                    <a:p>
                      <a:pPr marL="6876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-9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Unary constraints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lIns="0" rIns="0" tIns="1080" bIns="0" anchor="t">
                      <a:noAutofit/>
                    </a:bodyPr>
                    <a:p>
                      <a:pPr marL="6876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-6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D1 ≠ Night; D3 ≠ Morning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232200">
                <a:tc>
                  <a:txBody>
                    <a:bodyPr lIns="0" rIns="0" tIns="1080" bIns="0" anchor="t">
                      <a:noAutofit/>
                    </a:bodyPr>
                    <a:p>
                      <a:pPr marL="6876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-6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Ordering constraint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1080" bIns="0" anchor="t">
                      <a:noAutofit/>
                    </a:bodyPr>
                    <a:p>
                      <a:pPr marL="6876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D2 must be assigned an earlier shift than D3: Morning &lt; Afternoon &lt; Night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33640">
                <a:tc>
                  <a:txBody>
                    <a:bodyPr lIns="0" rIns="0" tIns="2520" bIns="0" anchor="t">
                      <a:noAutofit/>
                    </a:bodyPr>
                    <a:p>
                      <a:pPr marL="68760" defTabSz="91440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-17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Goal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lIns="0" rIns="0" tIns="2520" bIns="0" anchor="t">
                      <a:noAutofit/>
                    </a:bodyPr>
                    <a:p>
                      <a:pPr marL="68760" defTabSz="91440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3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Find a complete assignment satisfying every constraint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4"/>
          <p:cNvGraphicFramePr/>
          <p:nvPr/>
        </p:nvGraphicFramePr>
        <p:xfrm>
          <a:off x="660240" y="3886200"/>
          <a:ext cx="6451200" cy="2145960"/>
        </p:xfrm>
        <a:graphic>
          <a:graphicData uri="http://schemas.openxmlformats.org/drawingml/2006/table">
            <a:tbl>
              <a:tblPr rtl="0" firstCol="0" lastCol="0" firstRow="0" lastRow="0" bandRow="0" bandCol="0"/>
              <a:tblGrid>
                <a:gridCol w="1610280"/>
                <a:gridCol w="1615320"/>
                <a:gridCol w="1613880"/>
                <a:gridCol w="1611360"/>
              </a:tblGrid>
              <a:tr h="232200">
                <a:tc>
                  <a:txBody>
                    <a:bodyPr lIns="0" rIns="0" tIns="6120" bIns="0" anchor="t">
                      <a:noAutofit/>
                    </a:bodyPr>
                    <a:p>
                      <a:pPr marL="70992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1" lang="en-US" sz="650" spc="17" strike="noStrike" u="none">
                          <a:solidFill>
                            <a:srgbClr val="ffffff"/>
                          </a:solidFill>
                          <a:uFillTx/>
                          <a:latin typeface="Times New Roman"/>
                        </a:rPr>
                        <a:t>Step</a:t>
                      </a:r>
                      <a:endParaRPr b="0" lang="en-US" sz="65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lIns="0" rIns="0" tIns="6120" bIns="0" anchor="t">
                      <a:noAutofit/>
                    </a:bodyPr>
                    <a:p>
                      <a:pPr marL="30744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1" lang="en-US" sz="650" spc="17" strike="noStrike" u="none">
                          <a:solidFill>
                            <a:srgbClr val="ffffff"/>
                          </a:solidFill>
                          <a:uFillTx/>
                          <a:latin typeface="Times New Roman"/>
                        </a:rPr>
                        <a:t>Assignment considered</a:t>
                      </a:r>
                      <a:endParaRPr b="0" lang="en-US" sz="65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lIns="0" rIns="0" tIns="6120" bIns="0" anchor="t">
                      <a:noAutofit/>
                    </a:bodyPr>
                    <a:p>
                      <a:pPr marL="43452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1" lang="en-US" sz="650" spc="17" strike="noStrike" u="none">
                          <a:solidFill>
                            <a:srgbClr val="ffffff"/>
                          </a:solidFill>
                          <a:uFillTx/>
                          <a:latin typeface="Times New Roman"/>
                        </a:rPr>
                        <a:t>Constraint check</a:t>
                      </a:r>
                      <a:endParaRPr b="0" lang="en-US" sz="65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lIns="0" rIns="0" tIns="6120" bIns="0" anchor="t">
                      <a:noAutofit/>
                    </a:bodyPr>
                    <a:p>
                      <a:pPr marL="62352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1" lang="en-US" sz="650" spc="17" strike="noStrike" u="none">
                          <a:solidFill>
                            <a:srgbClr val="ffffff"/>
                          </a:solidFill>
                          <a:uFillTx/>
                          <a:latin typeface="Times New Roman"/>
                        </a:rPr>
                        <a:t>Decision</a:t>
                      </a:r>
                      <a:endParaRPr b="0" lang="en-US" sz="65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</a:tr>
              <a:tr h="233640">
                <a:tc>
                  <a:txBody>
                    <a:bodyPr lIns="0" rIns="0" tIns="6120" bIns="0" anchor="t">
                      <a:noAutofit/>
                    </a:bodyPr>
                    <a:p>
                      <a:pPr marL="6876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17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1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6120" bIns="0" anchor="t">
                      <a:noAutofit/>
                    </a:bodyPr>
                    <a:p>
                      <a:pPr marL="6876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-9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D2 = Morning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6120" bIns="0" anchor="t">
                      <a:noAutofit/>
                    </a:bodyPr>
                    <a:p>
                      <a:pPr marL="6876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6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Allowed; earliest shift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6120" bIns="0" anchor="t">
                      <a:noAutofit/>
                    </a:bodyPr>
                    <a:p>
                      <a:pPr marL="6984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6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Accept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32200">
                <a:tc>
                  <a:txBody>
                    <a:bodyPr lIns="0" rIns="0" tIns="1080" bIns="0" anchor="t">
                      <a:noAutofit/>
                    </a:bodyPr>
                    <a:p>
                      <a:pPr marL="6876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17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2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lIns="0" rIns="0" tIns="1080" bIns="0" anchor="t">
                      <a:noAutofit/>
                    </a:bodyPr>
                    <a:p>
                      <a:pPr marL="6876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-6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D3 = Afternoon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lIns="0" rIns="0" tIns="1080" bIns="0" anchor="t">
                      <a:noAutofit/>
                    </a:bodyPr>
                    <a:p>
                      <a:pPr marL="6876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D2 is before D3; D3 is not Morning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lIns="0" rIns="0" tIns="1080" bIns="0" anchor="t">
                      <a:noAutofit/>
                    </a:bodyPr>
                    <a:p>
                      <a:pPr marL="6984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6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Accept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233640">
                <a:tc>
                  <a:txBody>
                    <a:bodyPr lIns="0" rIns="0" tIns="3600" bIns="0" anchor="t">
                      <a:noAutofit/>
                    </a:bodyPr>
                    <a:p>
                      <a:pPr marL="6876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17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3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3600" bIns="0" anchor="t">
                      <a:noAutofit/>
                    </a:bodyPr>
                    <a:p>
                      <a:pPr marL="6876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-17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D1 = Night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3600" bIns="0" anchor="t">
                      <a:noAutofit/>
                    </a:bodyPr>
                    <a:p>
                      <a:pPr marL="6876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Violates D1 ≠ Night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3600" bIns="0" anchor="t">
                      <a:noAutofit/>
                    </a:bodyPr>
                    <a:p>
                      <a:pPr marL="6984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-6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Reject and backtrack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07520">
                <a:tc>
                  <a:txBody>
                    <a:bodyPr lIns="0" rIns="0" tIns="88560" bIns="0" anchor="t">
                      <a:noAutofit/>
                    </a:bodyPr>
                    <a:p>
                      <a:pPr marL="6876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17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4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lIns="0" rIns="0" tIns="88560" bIns="0" anchor="t">
                      <a:noAutofit/>
                    </a:bodyPr>
                    <a:p>
                      <a:pPr marL="6876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-6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D1 = Afternoon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lIns="0" rIns="0" tIns="2520" bIns="0" anchor="t">
                      <a:noAutofit/>
                    </a:bodyPr>
                    <a:p>
                      <a:pPr marL="68760" defTabSz="91440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Conflicts with D3 = Afternoon (one 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68760" defTabSz="914400">
                        <a:lnSpc>
                          <a:spcPts val="870"/>
                        </a:lnSpc>
                        <a:spcBef>
                          <a:spcPts val="499"/>
                        </a:spcBef>
                        <a:tabLst>
                          <a:tab algn="l" pos="0"/>
                        </a:tabLst>
                      </a:pPr>
                      <a:r>
                        <a:rPr b="0" lang="en-US" sz="650" spc="-3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doctor per shift)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lIns="0" rIns="0" tIns="88560" bIns="0" anchor="t">
                      <a:noAutofit/>
                    </a:bodyPr>
                    <a:p>
                      <a:pPr marL="6984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Reject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406080">
                <a:tc>
                  <a:txBody>
                    <a:bodyPr lIns="0" rIns="0" tIns="88560" bIns="0" anchor="t">
                      <a:noAutofit/>
                    </a:bodyPr>
                    <a:p>
                      <a:pPr marL="68760" defTabSz="91440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17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5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88560" bIns="0" anchor="t">
                      <a:noAutofit/>
                    </a:bodyPr>
                    <a:p>
                      <a:pPr marL="68760" defTabSz="91440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-3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Backtrack D3; try D3 = Night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1080" bIns="0" anchor="t">
                      <a:noAutofit/>
                    </a:bodyPr>
                    <a:p>
                      <a:pPr marL="6876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-3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D2 = Morning is before D3 = 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68760" defTabSz="914400">
                        <a:lnSpc>
                          <a:spcPts val="870"/>
                        </a:lnSpc>
                        <a:spcBef>
                          <a:spcPts val="530"/>
                        </a:spcBef>
                        <a:tabLst>
                          <a:tab algn="l" pos="0"/>
                        </a:tabLst>
                      </a:pPr>
                      <a:r>
                        <a:rPr b="0" lang="en-US" sz="650" spc="-3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Night; D3 not Morning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88560" bIns="0" anchor="t">
                      <a:noAutofit/>
                    </a:bodyPr>
                    <a:p>
                      <a:pPr marL="69840" defTabSz="91440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6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Accept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99960">
                <a:tc>
                  <a:txBody>
                    <a:bodyPr lIns="0" rIns="0" tIns="95040" bIns="0" anchor="t">
                      <a:noAutofit/>
                    </a:bodyPr>
                    <a:p>
                      <a:pPr marL="6876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17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6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lIns="0" rIns="0" tIns="95040" bIns="0" anchor="t">
                      <a:noAutofit/>
                    </a:bodyPr>
                    <a:p>
                      <a:pPr marL="6876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-6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D1 = Afternoon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lIns="0" rIns="0" tIns="3600" bIns="0" anchor="t">
                      <a:noAutofit/>
                    </a:bodyPr>
                    <a:p>
                      <a:pPr marL="6876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-3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Different from D2 and D3; D1 not 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68760" defTabSz="914400">
                        <a:lnSpc>
                          <a:spcPts val="879"/>
                        </a:lnSpc>
                        <a:spcBef>
                          <a:spcPts val="519"/>
                        </a:spcBef>
                        <a:tabLst>
                          <a:tab algn="l" pos="0"/>
                        </a:tabLst>
                      </a:pPr>
                      <a:r>
                        <a:rPr b="0" lang="en-US" sz="650" spc="-17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Night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lIns="0" rIns="0" tIns="95040" bIns="0" anchor="t">
                      <a:noAutofit/>
                    </a:bodyPr>
                    <a:p>
                      <a:pPr marL="6984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3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Accept; complete solution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</a:tbl>
          </a:graphicData>
        </a:graphic>
      </p:graphicFrame>
      <p:sp>
        <p:nvSpPr>
          <p:cNvPr id="10" name="TextBox 2"/>
          <p:cNvSpPr/>
          <p:nvPr/>
        </p:nvSpPr>
        <p:spPr>
          <a:xfrm>
            <a:off x="659160" y="596880"/>
            <a:ext cx="6248160" cy="100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ts val="1678"/>
              </a:lnSpc>
              <a:tabLst>
                <a:tab algn="l" pos="0"/>
              </a:tabLst>
            </a:pPr>
            <a:r>
              <a:rPr b="1" lang="en" sz="1500" spc="-3" strike="noStrike" u="none">
                <a:solidFill>
                  <a:srgbClr val="000000"/>
                </a:solidFill>
                <a:uFillTx/>
                <a:latin typeface="Times New Roman"/>
              </a:rPr>
              <a:t>1. Doctor-to-Shift Assignment Using Backtracking Search 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001"/>
              </a:lnSpc>
              <a:spcBef>
                <a:spcPts val="918"/>
              </a:spcBef>
              <a:tabLst>
                <a:tab algn="l" pos="0"/>
              </a:tabLst>
            </a:pPr>
            <a:r>
              <a:rPr b="0" lang="en-US" sz="900" spc="-23" strike="noStrike" u="none">
                <a:solidFill>
                  <a:srgbClr val="000000"/>
                </a:solidFill>
                <a:uFillTx/>
                <a:latin typeface="Times New Roman"/>
              </a:rPr>
              <a:t>A hospital must assign doctors D1, D2 and D3 to Morning, Afternoon and Night shifts. Each doctor must receive exactly one shift, each 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001"/>
              </a:lnSpc>
              <a:spcBef>
                <a:spcPts val="550"/>
              </a:spcBef>
              <a:tabLst>
                <a:tab algn="l" pos="0"/>
              </a:tabLst>
            </a:pPr>
            <a:r>
              <a:rPr b="0" lang="en-US" sz="900" spc="-23" strike="noStrike" u="none">
                <a:solidFill>
                  <a:srgbClr val="000000"/>
                </a:solidFill>
                <a:uFillTx/>
                <a:latin typeface="Times New Roman"/>
              </a:rPr>
              <a:t>shift must have exactly one doctor, D1 cannot work Night, D2 must work before D3, and D3 cannot work Morning. 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230"/>
              </a:lnSpc>
              <a:spcBef>
                <a:spcPts val="1511"/>
              </a:spcBef>
              <a:tabLst>
                <a:tab algn="l" pos="0"/>
              </a:tabLst>
            </a:pPr>
            <a:r>
              <a:rPr b="1" lang="en-US" sz="1100" strike="noStrike" u="none">
                <a:solidFill>
                  <a:srgbClr val="000000"/>
                </a:solidFill>
                <a:uFillTx/>
                <a:latin typeface="Times New Roman"/>
              </a:rPr>
              <a:t>Constraint satisfaction formulation 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" name="TextBox 5"/>
          <p:cNvSpPr/>
          <p:nvPr/>
        </p:nvSpPr>
        <p:spPr>
          <a:xfrm>
            <a:off x="659160" y="3642480"/>
            <a:ext cx="2637360" cy="15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ts val="1239"/>
              </a:lnSpc>
              <a:tabLst>
                <a:tab algn="l" pos="0"/>
              </a:tabLst>
            </a:pPr>
            <a:r>
              <a:rPr b="1" lang="en" sz="1100" spc="6" strike="noStrike" u="none">
                <a:solidFill>
                  <a:srgbClr val="000000"/>
                </a:solidFill>
                <a:uFillTx/>
                <a:latin typeface="Times New Roman"/>
              </a:rPr>
              <a:t>Backtracking search with constraint checks 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" name="TextBox 6"/>
          <p:cNvSpPr/>
          <p:nvPr/>
        </p:nvSpPr>
        <p:spPr>
          <a:xfrm>
            <a:off x="659160" y="6301800"/>
            <a:ext cx="6431040" cy="56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1" lang="en" sz="900" spc="-6" strike="noStrike" u="none">
                <a:solidFill>
                  <a:srgbClr val="000000"/>
                </a:solidFill>
                <a:uFillTx/>
                <a:latin typeface="Times New Roman"/>
              </a:rPr>
              <a:t>Final valid schedule: Morning — D2  |  Afternoon — D1  |  Night — D3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001"/>
              </a:lnSpc>
              <a:spcBef>
                <a:spcPts val="910"/>
              </a:spcBef>
              <a:tabLst>
                <a:tab algn="l" pos="0"/>
              </a:tabLst>
            </a:pPr>
            <a:r>
              <a:rPr b="0" lang="en-US" sz="900" spc="-23" strike="noStrike" u="none">
                <a:solidFill>
                  <a:srgbClr val="000000"/>
                </a:solidFill>
                <a:uFillTx/>
                <a:latin typeface="Times New Roman"/>
              </a:rPr>
              <a:t>All three doctors receive exactly one shift and each shift has one doctor. D1 is not assigned to Night, D3 is not assigned to Morning, and D2 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989"/>
              </a:lnSpc>
              <a:spcBef>
                <a:spcPts val="550"/>
              </a:spcBef>
              <a:tabLst>
                <a:tab algn="l" pos="0"/>
              </a:tabLst>
            </a:pPr>
            <a:r>
              <a:rPr b="0" lang="en-US" sz="900" spc="-23" strike="noStrike" u="none">
                <a:solidFill>
                  <a:srgbClr val="000000"/>
                </a:solidFill>
                <a:uFillTx/>
                <a:latin typeface="Times New Roman"/>
              </a:rPr>
              <a:t>works before D3. Therefore, the final schedule satisfies all stated constraints. 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AutoShape 3"/>
          <p:cNvSpPr/>
          <p:nvPr/>
        </p:nvSpPr>
        <p:spPr>
          <a:xfrm>
            <a:off x="4602600" y="2144880"/>
            <a:ext cx="1151640" cy="247320"/>
          </a:xfrm>
          <a:prstGeom prst="rect">
            <a:avLst/>
          </a:prstGeom>
          <a:solidFill>
            <a:srgbClr val="eaf1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" name="AutoShape 4"/>
          <p:cNvSpPr/>
          <p:nvPr/>
        </p:nvSpPr>
        <p:spPr>
          <a:xfrm>
            <a:off x="5892840" y="2144880"/>
            <a:ext cx="1151640" cy="2473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" name="AutoShape 5"/>
          <p:cNvSpPr/>
          <p:nvPr/>
        </p:nvSpPr>
        <p:spPr>
          <a:xfrm>
            <a:off x="4602600" y="2396520"/>
            <a:ext cx="1151640" cy="251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" name="AutoShape 6"/>
          <p:cNvSpPr/>
          <p:nvPr/>
        </p:nvSpPr>
        <p:spPr>
          <a:xfrm>
            <a:off x="5892840" y="2396520"/>
            <a:ext cx="1151640" cy="251280"/>
          </a:xfrm>
          <a:prstGeom prst="rect">
            <a:avLst/>
          </a:prstGeom>
          <a:solidFill>
            <a:srgbClr val="eaf1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" name="AutoShape 7"/>
          <p:cNvSpPr/>
          <p:nvPr/>
        </p:nvSpPr>
        <p:spPr>
          <a:xfrm>
            <a:off x="5892840" y="2653200"/>
            <a:ext cx="1151640" cy="2458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aphicFrame>
        <p:nvGraphicFramePr>
          <p:cNvPr id="18" name="Table 8"/>
          <p:cNvGraphicFramePr/>
          <p:nvPr/>
        </p:nvGraphicFramePr>
        <p:xfrm>
          <a:off x="660240" y="1887120"/>
          <a:ext cx="6451200" cy="1270800"/>
        </p:xfrm>
        <a:graphic>
          <a:graphicData uri="http://schemas.openxmlformats.org/drawingml/2006/table">
            <a:tbl>
              <a:tblPr rtl="0" firstCol="0" lastCol="0" firstRow="0" lastRow="0" bandRow="0" bandCol="0"/>
              <a:tblGrid>
                <a:gridCol w="1291320"/>
                <a:gridCol w="1288800"/>
                <a:gridCol w="1290240"/>
                <a:gridCol w="1290240"/>
                <a:gridCol w="1290240"/>
              </a:tblGrid>
              <a:tr h="251280">
                <a:tc>
                  <a:txBody>
                    <a:bodyPr lIns="0" rIns="0" tIns="7560" bIns="0" anchor="t">
                      <a:noAutofit/>
                    </a:bodyPr>
                    <a:p>
                      <a:pPr marL="613440" defTabSz="914400">
                        <a:lnSpc>
                          <a:spcPts val="989"/>
                        </a:lnSpc>
                        <a:tabLst>
                          <a:tab algn="l" pos="0"/>
                        </a:tabLst>
                      </a:pPr>
                      <a:r>
                        <a:rPr b="1" lang="en-US" sz="800" spc="3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S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dceee8"/>
                    </a:solidFill>
                  </a:tcPr>
                </a:tc>
                <a:tc>
                  <a:txBody>
                    <a:bodyPr lIns="0" rIns="0" tIns="2520" bIns="0" anchor="t">
                      <a:noAutofit/>
                    </a:bodyPr>
                    <a:p>
                      <a:pPr marL="536040" defTabSz="914400">
                        <a:lnSpc>
                          <a:spcPts val="1001"/>
                        </a:lnSpc>
                        <a:tabLst>
                          <a:tab algn="l" pos="0"/>
                        </a:tabLst>
                      </a:pPr>
                      <a:r>
                        <a:rPr b="0" lang="en-US" sz="800" spc="-3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(0,1) 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2520" bIns="0" anchor="t">
                      <a:noAutofit/>
                    </a:bodyPr>
                    <a:p>
                      <a:pPr marL="534600" defTabSz="914400">
                        <a:lnSpc>
                          <a:spcPts val="1001"/>
                        </a:lnSpc>
                        <a:tabLst>
                          <a:tab algn="l" pos="0"/>
                        </a:tabLst>
                      </a:pPr>
                      <a:r>
                        <a:rPr b="0" lang="en-US" sz="80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(0,2) 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 lIns="0" rIns="0" tIns="2520" bIns="0" anchor="t">
                      <a:noAutofit/>
                    </a:bodyPr>
                    <a:p>
                      <a:pPr marL="534600" defTabSz="914400">
                        <a:lnSpc>
                          <a:spcPts val="1001"/>
                        </a:lnSpc>
                        <a:tabLst>
                          <a:tab algn="l" pos="0"/>
                        </a:tabLst>
                      </a:pPr>
                      <a:r>
                        <a:rPr b="0" lang="en-US" sz="800" spc="-3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(0,3) 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2520" bIns="0" anchor="t">
                      <a:noAutofit/>
                    </a:bodyPr>
                    <a:p>
                      <a:pPr marL="534600" defTabSz="914400">
                        <a:lnSpc>
                          <a:spcPts val="1001"/>
                        </a:lnSpc>
                        <a:tabLst>
                          <a:tab algn="l" pos="0"/>
                        </a:tabLst>
                      </a:pPr>
                      <a:r>
                        <a:rPr b="0" lang="en-US" sz="800" spc="-3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(0,4) 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eaf1f7"/>
                    </a:solidFill>
                  </a:tcPr>
                </a:tc>
              </a:tr>
              <a:tr h="256320">
                <a:tc>
                  <a:txBody>
                    <a:bodyPr lIns="0" rIns="0" tIns="7560" bIns="0" anchor="t">
                      <a:noAutofit/>
                    </a:bodyPr>
                    <a:p>
                      <a:pPr marL="536040" defTabSz="914400">
                        <a:lnSpc>
                          <a:spcPts val="989"/>
                        </a:lnSpc>
                        <a:tabLst>
                          <a:tab algn="l" pos="0"/>
                        </a:tabLst>
                      </a:pPr>
                      <a:r>
                        <a:rPr b="0" lang="en-US" sz="800" spc="-3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(1,0) 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11160" bIns="0" anchor="t">
                      <a:noAutofit/>
                    </a:bodyPr>
                    <a:p>
                      <a:pPr marL="608400" defTabSz="914400">
                        <a:lnSpc>
                          <a:spcPts val="1001"/>
                        </a:lnSpc>
                        <a:tabLst>
                          <a:tab algn="l" pos="0"/>
                        </a:tabLst>
                      </a:pPr>
                      <a:r>
                        <a:rPr b="1" lang="en-US" sz="800" strike="noStrike" u="none">
                          <a:solidFill>
                            <a:srgbClr val="000000"/>
                          </a:solidFill>
                          <a:uFillTx/>
                          <a:latin typeface="Calibri"/>
                          <a:ea typeface="Times New Roman"/>
                        </a:rPr>
                        <a:t>■</a:t>
                      </a:r>
                      <a:endParaRPr b="0" lang="en-US" sz="8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667985"/>
                    </a:solidFill>
                  </a:tcPr>
                </a:tc>
                <a:tc>
                  <a:txBody>
                    <a:bodyPr lIns="0" rIns="0" tIns="11160" bIns="0" anchor="t">
                      <a:noAutofit/>
                    </a:bodyPr>
                    <a:p>
                      <a:pPr marL="608400" defTabSz="914400">
                        <a:lnSpc>
                          <a:spcPts val="1001"/>
                        </a:lnSpc>
                        <a:tabLst>
                          <a:tab algn="l" pos="0"/>
                        </a:tabLst>
                      </a:pPr>
                      <a:r>
                        <a:rPr b="1" lang="en-US" sz="800" strike="noStrike" u="none">
                          <a:solidFill>
                            <a:srgbClr val="000000"/>
                          </a:solidFill>
                          <a:uFillTx/>
                          <a:latin typeface="Calibri"/>
                          <a:ea typeface="Times New Roman"/>
                        </a:rPr>
                        <a:t>■</a:t>
                      </a:r>
                      <a:endParaRPr b="0" lang="en-US" sz="8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667985"/>
                    </a:solidFill>
                  </a:tcPr>
                </a:tc>
                <a:tc>
                  <a:txBody>
                    <a:bodyPr lIns="0" rIns="0" tIns="7560" bIns="0" anchor="t">
                      <a:noAutofit/>
                    </a:bodyPr>
                    <a:p>
                      <a:pPr marL="534600" defTabSz="914400">
                        <a:lnSpc>
                          <a:spcPts val="989"/>
                        </a:lnSpc>
                        <a:tabLst>
                          <a:tab algn="l" pos="0"/>
                        </a:tabLst>
                      </a:pPr>
                      <a:r>
                        <a:rPr b="0" lang="en-US" sz="800" spc="-3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(1,3) 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 lIns="0" rIns="0" tIns="7560" bIns="0" anchor="t">
                      <a:noAutofit/>
                    </a:bodyPr>
                    <a:p>
                      <a:pPr marL="534600" defTabSz="914400">
                        <a:lnSpc>
                          <a:spcPts val="989"/>
                        </a:lnSpc>
                        <a:tabLst>
                          <a:tab algn="l" pos="0"/>
                        </a:tabLst>
                      </a:pPr>
                      <a:r>
                        <a:rPr b="0" lang="en-US" sz="800" spc="-3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(1,4) 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5240">
                <a:tc>
                  <a:txBody>
                    <a:bodyPr lIns="0" rIns="0" tIns="2520" bIns="0" anchor="t">
                      <a:noAutofit/>
                    </a:bodyPr>
                    <a:p>
                      <a:pPr marL="536040" defTabSz="914400">
                        <a:lnSpc>
                          <a:spcPts val="1001"/>
                        </a:lnSpc>
                        <a:tabLst>
                          <a:tab algn="l" pos="0"/>
                        </a:tabLst>
                      </a:pPr>
                      <a:r>
                        <a:rPr b="0" lang="en-US" sz="800" spc="-3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(2,0) 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 lIns="0" rIns="0" tIns="2520" bIns="0" anchor="t">
                      <a:noAutofit/>
                    </a:bodyPr>
                    <a:p>
                      <a:pPr marL="536040" defTabSz="914400">
                        <a:lnSpc>
                          <a:spcPts val="1001"/>
                        </a:lnSpc>
                        <a:tabLst>
                          <a:tab algn="l" pos="0"/>
                        </a:tabLst>
                      </a:pPr>
                      <a:r>
                        <a:rPr b="0" lang="en-US" sz="800" spc="-3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(2,1) 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2520" bIns="0" anchor="t">
                      <a:noAutofit/>
                    </a:bodyPr>
                    <a:p>
                      <a:pPr marL="534600" defTabSz="914400">
                        <a:lnSpc>
                          <a:spcPts val="1001"/>
                        </a:lnSpc>
                        <a:tabLst>
                          <a:tab algn="l" pos="0"/>
                        </a:tabLst>
                      </a:pPr>
                      <a:r>
                        <a:rPr b="0" lang="en-US" sz="80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(2,2) 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 lIns="0" rIns="0" tIns="2520" bIns="0" anchor="t">
                      <a:noAutofit/>
                    </a:bodyPr>
                    <a:p>
                      <a:pPr marL="534600" defTabSz="914400">
                        <a:lnSpc>
                          <a:spcPts val="1001"/>
                        </a:lnSpc>
                        <a:tabLst>
                          <a:tab algn="l" pos="0"/>
                        </a:tabLst>
                      </a:pPr>
                      <a:r>
                        <a:rPr b="0" lang="en-US" sz="800" spc="-3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(2,3) 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2520" bIns="0" anchor="t">
                      <a:noAutofit/>
                    </a:bodyPr>
                    <a:p>
                      <a:pPr marL="534600" defTabSz="914400">
                        <a:lnSpc>
                          <a:spcPts val="1001"/>
                        </a:lnSpc>
                        <a:tabLst>
                          <a:tab algn="l" pos="0"/>
                        </a:tabLst>
                      </a:pPr>
                      <a:r>
                        <a:rPr b="0" lang="en-US" sz="800" spc="-3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(2,4) 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eaf1f7"/>
                    </a:solidFill>
                  </a:tcPr>
                </a:tc>
              </a:tr>
              <a:tr h="251280">
                <a:tc>
                  <a:txBody>
                    <a:bodyPr lIns="0" rIns="0" tIns="3600" bIns="0" anchor="t">
                      <a:noAutofit/>
                    </a:bodyPr>
                    <a:p>
                      <a:pPr marL="536040" defTabSz="914400">
                        <a:lnSpc>
                          <a:spcPts val="989"/>
                        </a:lnSpc>
                        <a:tabLst>
                          <a:tab algn="l" pos="0"/>
                        </a:tabLst>
                      </a:pPr>
                      <a:r>
                        <a:rPr b="0" lang="en-US" sz="800" spc="-3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(3,0) 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3600" bIns="0" anchor="t">
                      <a:noAutofit/>
                    </a:bodyPr>
                    <a:p>
                      <a:pPr marL="536040" defTabSz="914400">
                        <a:lnSpc>
                          <a:spcPts val="989"/>
                        </a:lnSpc>
                        <a:tabLst>
                          <a:tab algn="l" pos="0"/>
                        </a:tabLst>
                      </a:pPr>
                      <a:r>
                        <a:rPr b="0" lang="en-US" sz="800" spc="-3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(3,1) 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 lIns="0" rIns="0" tIns="7560" bIns="0" anchor="t">
                      <a:noAutofit/>
                    </a:bodyPr>
                    <a:p>
                      <a:pPr marL="608400" defTabSz="914400">
                        <a:lnSpc>
                          <a:spcPts val="1001"/>
                        </a:lnSpc>
                        <a:tabLst>
                          <a:tab algn="l" pos="0"/>
                        </a:tabLst>
                      </a:pPr>
                      <a:r>
                        <a:rPr b="1" lang="en-US" sz="800" strike="noStrike" u="none">
                          <a:solidFill>
                            <a:srgbClr val="000000"/>
                          </a:solidFill>
                          <a:uFillTx/>
                          <a:latin typeface="Calibri"/>
                          <a:ea typeface="Times New Roman"/>
                        </a:rPr>
                        <a:t>■</a:t>
                      </a:r>
                      <a:endParaRPr b="0" lang="en-US" sz="8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667985"/>
                    </a:solidFill>
                  </a:tcPr>
                </a:tc>
                <a:tc>
                  <a:txBody>
                    <a:bodyPr lIns="0" rIns="0" tIns="7560" bIns="0" anchor="t">
                      <a:noAutofit/>
                    </a:bodyPr>
                    <a:p>
                      <a:pPr marL="608400" defTabSz="914400">
                        <a:lnSpc>
                          <a:spcPts val="1001"/>
                        </a:lnSpc>
                        <a:tabLst>
                          <a:tab algn="l" pos="0"/>
                        </a:tabLst>
                      </a:pPr>
                      <a:r>
                        <a:rPr b="1" lang="en-US" sz="800" strike="noStrike" u="none">
                          <a:solidFill>
                            <a:srgbClr val="000000"/>
                          </a:solidFill>
                          <a:uFillTx/>
                          <a:latin typeface="Calibri"/>
                          <a:ea typeface="Times New Roman"/>
                        </a:rPr>
                        <a:t>■</a:t>
                      </a:r>
                      <a:endParaRPr b="0" lang="en-US" sz="8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667985"/>
                    </a:solidFill>
                  </a:tcPr>
                </a:tc>
                <a:tc>
                  <a:txBody>
                    <a:bodyPr lIns="0" rIns="0" tIns="3600" bIns="0" anchor="t">
                      <a:noAutofit/>
                    </a:bodyPr>
                    <a:p>
                      <a:pPr marL="534600" defTabSz="914400">
                        <a:lnSpc>
                          <a:spcPts val="989"/>
                        </a:lnSpc>
                        <a:tabLst>
                          <a:tab algn="l" pos="0"/>
                        </a:tabLst>
                      </a:pPr>
                      <a:r>
                        <a:rPr b="0" lang="en-US" sz="800" spc="-3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(3,4) 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320">
                <a:tc>
                  <a:txBody>
                    <a:bodyPr lIns="0" rIns="0" tIns="7560" bIns="0" anchor="t">
                      <a:noAutofit/>
                    </a:bodyPr>
                    <a:p>
                      <a:pPr marL="536040" defTabSz="914400">
                        <a:lnSpc>
                          <a:spcPts val="1001"/>
                        </a:lnSpc>
                        <a:tabLst>
                          <a:tab algn="l" pos="0"/>
                        </a:tabLst>
                      </a:pPr>
                      <a:r>
                        <a:rPr b="0" lang="en-US" sz="800" spc="-3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(4,0) 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 lIns="0" rIns="0" tIns="7560" bIns="0" anchor="t">
                      <a:noAutofit/>
                    </a:bodyPr>
                    <a:p>
                      <a:pPr marL="536040" defTabSz="914400">
                        <a:lnSpc>
                          <a:spcPts val="1001"/>
                        </a:lnSpc>
                        <a:tabLst>
                          <a:tab algn="l" pos="0"/>
                        </a:tabLst>
                      </a:pPr>
                      <a:r>
                        <a:rPr b="0" lang="en-US" sz="800" spc="-3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(4,1) 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7560" bIns="0" anchor="t">
                      <a:noAutofit/>
                    </a:bodyPr>
                    <a:p>
                      <a:pPr marL="534600" defTabSz="914400">
                        <a:lnSpc>
                          <a:spcPts val="1001"/>
                        </a:lnSpc>
                        <a:tabLst>
                          <a:tab algn="l" pos="0"/>
                        </a:tabLst>
                      </a:pPr>
                      <a:r>
                        <a:rPr b="0" lang="en-US" sz="80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(4,2) 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 lIns="0" rIns="0" tIns="7560" bIns="0" anchor="t">
                      <a:noAutofit/>
                    </a:bodyPr>
                    <a:p>
                      <a:pPr marL="534600" defTabSz="914400">
                        <a:lnSpc>
                          <a:spcPts val="1001"/>
                        </a:lnSpc>
                        <a:tabLst>
                          <a:tab algn="l" pos="0"/>
                        </a:tabLst>
                      </a:pPr>
                      <a:r>
                        <a:rPr b="0" lang="en-US" sz="800" spc="-3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(4,3) 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12600" bIns="0" anchor="t">
                      <a:noAutofit/>
                    </a:bodyPr>
                    <a:p>
                      <a:pPr marL="599400" defTabSz="914400">
                        <a:lnSpc>
                          <a:spcPts val="1001"/>
                        </a:lnSpc>
                        <a:tabLst>
                          <a:tab algn="l" pos="0"/>
                        </a:tabLst>
                      </a:pPr>
                      <a:r>
                        <a:rPr b="1" lang="en-US" sz="800" spc="-23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G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dceee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Table 9"/>
          <p:cNvGraphicFramePr/>
          <p:nvPr/>
        </p:nvGraphicFramePr>
        <p:xfrm>
          <a:off x="660240" y="3926880"/>
          <a:ext cx="6451200" cy="1967040"/>
        </p:xfrm>
        <a:graphic>
          <a:graphicData uri="http://schemas.openxmlformats.org/drawingml/2006/table">
            <a:tbl>
              <a:tblPr rtl="0" firstCol="0" lastCol="0" firstRow="0" lastRow="0" bandRow="0" bandCol="0"/>
              <a:tblGrid>
                <a:gridCol w="3225600"/>
                <a:gridCol w="3225600"/>
              </a:tblGrid>
              <a:tr h="232200">
                <a:tc>
                  <a:txBody>
                    <a:bodyPr lIns="0" rIns="0" tIns="1080" bIns="0" anchor="t">
                      <a:noAutofit/>
                    </a:bodyPr>
                    <a:p>
                      <a:pPr marL="151020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1" lang="en-US" sz="650" spc="17" strike="noStrike" u="none">
                          <a:solidFill>
                            <a:srgbClr val="ffffff"/>
                          </a:solidFill>
                          <a:uFillTx/>
                          <a:latin typeface="Times New Roman"/>
                        </a:rPr>
                        <a:t>Item</a:t>
                      </a:r>
                      <a:endParaRPr b="0" lang="en-US" sz="65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lIns="0" rIns="0" tIns="1080" bIns="0" anchor="t">
                      <a:noAutofit/>
                    </a:bodyPr>
                    <a:p>
                      <a:pPr marL="134496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1" lang="en-US" sz="650" spc="17" strike="noStrike" u="none">
                          <a:solidFill>
                            <a:srgbClr val="ffffff"/>
                          </a:solidFill>
                          <a:uFillTx/>
                          <a:latin typeface="Times New Roman"/>
                        </a:rPr>
                        <a:t>Explanation</a:t>
                      </a:r>
                      <a:endParaRPr b="0" lang="en-US" sz="65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</a:tr>
              <a:tr h="234720">
                <a:tc>
                  <a:txBody>
                    <a:bodyPr lIns="0" rIns="0" tIns="3600" bIns="0" anchor="t">
                      <a:noAutofit/>
                    </a:bodyPr>
                    <a:p>
                      <a:pPr marL="6876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-6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State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3600" bIns="0" anchor="t">
                      <a:noAutofit/>
                    </a:bodyPr>
                    <a:p>
                      <a:pPr marL="6876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Robot's current grid cell (row, column)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06080">
                <a:tc>
                  <a:txBody>
                    <a:bodyPr lIns="0" rIns="0" tIns="88560" bIns="0" anchor="t">
                      <a:noAutofit/>
                    </a:bodyPr>
                    <a:p>
                      <a:pPr marL="6876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-6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Actions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lIns="0" rIns="0" tIns="2520" bIns="0" anchor="t">
                      <a:noAutofit/>
                    </a:bodyPr>
                    <a:p>
                      <a:pPr marL="68760" defTabSz="91440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Up, Down, Left, Right, if the destination cell is inside the grid and not 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68760" defTabSz="914400">
                        <a:lnSpc>
                          <a:spcPts val="870"/>
                        </a:lnSpc>
                        <a:spcBef>
                          <a:spcPts val="499"/>
                        </a:spcBef>
                        <a:tabLst>
                          <a:tab algn="l" pos="0"/>
                        </a:tabLst>
                      </a:pPr>
                      <a:r>
                        <a:rPr b="0" lang="en-US" sz="65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blocked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233640">
                <a:tc>
                  <a:txBody>
                    <a:bodyPr lIns="0" rIns="0" tIns="1080" bIns="0" anchor="t">
                      <a:noAutofit/>
                    </a:bodyPr>
                    <a:p>
                      <a:pPr marL="6876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6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Step cost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1080" bIns="0" anchor="t">
                      <a:noAutofit/>
                    </a:bodyPr>
                    <a:p>
                      <a:pPr marL="6876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6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1 for every movement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28600">
                <a:tc>
                  <a:txBody>
                    <a:bodyPr lIns="0" rIns="0" tIns="1080" bIns="0" anchor="t">
                      <a:noAutofit/>
                    </a:bodyPr>
                    <a:p>
                      <a:pPr marL="6876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-3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BFS frontier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lIns="0" rIns="0" tIns="1080" bIns="0" anchor="t">
                      <a:noAutofit/>
                    </a:bodyPr>
                    <a:p>
                      <a:pPr marL="6876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FIFO queue; nodes are expanded in order of discovery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411480">
                <a:tc>
                  <a:txBody>
                    <a:bodyPr lIns="0" rIns="0" tIns="92520" bIns="0" anchor="t">
                      <a:noAutofit/>
                    </a:bodyPr>
                    <a:p>
                      <a:pPr marL="6876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-9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Manhattan distance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6120" bIns="0" anchor="t">
                      <a:noAutofit/>
                    </a:bodyPr>
                    <a:p>
                      <a:pPr marL="68760" defTabSz="91440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h(n) = |row − goal_row| + |column − goal_column|; included as requested, 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68760" defTabSz="914400">
                        <a:lnSpc>
                          <a:spcPts val="879"/>
                        </a:lnSpc>
                        <a:spcBef>
                          <a:spcPts val="490"/>
                        </a:spcBef>
                        <a:tabLst>
                          <a:tab algn="l" pos="0"/>
                        </a:tabLst>
                      </a:pPr>
                      <a:r>
                        <a:rPr b="0" lang="en-US" sz="65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but BFS itself does not prioritize by h(n)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19600">
                <a:tc>
                  <a:txBody>
                    <a:bodyPr lIns="0" rIns="0" tIns="1080" bIns="0" anchor="t">
                      <a:noAutofit/>
                    </a:bodyPr>
                    <a:p>
                      <a:pPr marL="6876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-3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Optimality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lIns="0" rIns="0" tIns="1080" bIns="0" anchor="t">
                      <a:noAutofit/>
                    </a:bodyPr>
                    <a:p>
                      <a:pPr marL="6876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3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BFS finds a shortest path when every move has equal cost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</a:tbl>
          </a:graphicData>
        </a:graphic>
      </p:graphicFrame>
      <p:sp>
        <p:nvSpPr>
          <p:cNvPr id="20" name="TextBox 2"/>
          <p:cNvSpPr/>
          <p:nvPr/>
        </p:nvSpPr>
        <p:spPr>
          <a:xfrm>
            <a:off x="659160" y="596880"/>
            <a:ext cx="6481800" cy="119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ts val="1678"/>
              </a:lnSpc>
              <a:tabLst>
                <a:tab algn="l" pos="0"/>
              </a:tabLst>
            </a:pPr>
            <a:r>
              <a:rPr b="1" lang="en" sz="1500" spc="-14" strike="noStrike" u="none">
                <a:solidFill>
                  <a:srgbClr val="000000"/>
                </a:solidFill>
                <a:uFillTx/>
                <a:latin typeface="Times New Roman"/>
              </a:rPr>
              <a:t>2. Robot Navigation in a 5 × 5 Grid Using BFS 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001"/>
              </a:lnSpc>
              <a:spcBef>
                <a:spcPts val="918"/>
              </a:spcBef>
              <a:tabLst>
                <a:tab algn="l" pos="0"/>
              </a:tabLst>
            </a:pPr>
            <a:r>
              <a:rPr b="0" lang="en-US" sz="900" spc="-23" strike="noStrike" u="none">
                <a:solidFill>
                  <a:srgbClr val="000000"/>
                </a:solidFill>
                <a:uFillTx/>
                <a:latin typeface="Times New Roman"/>
              </a:rPr>
              <a:t>The question specifies four-direction movement, unit cost per move, blocked obstacles, and Manhattan distance as a heuristic. However, the 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001"/>
              </a:lnSpc>
              <a:spcBef>
                <a:spcPts val="550"/>
              </a:spcBef>
              <a:tabLst>
                <a:tab algn="l" pos="0"/>
              </a:tabLst>
            </a:pPr>
            <a:r>
              <a:rPr b="0" lang="en-US" sz="900" spc="-23" strike="noStrike" u="none">
                <a:solidFill>
                  <a:srgbClr val="000000"/>
                </a:solidFill>
                <a:uFillTx/>
                <a:latin typeface="Times New Roman"/>
              </a:rPr>
              <a:t>supplied question paper does not show the locations of the obstacles or the exact cells for S and G. To demonstrate the requested method, the 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001"/>
              </a:lnSpc>
              <a:spcBef>
                <a:spcPts val="550"/>
              </a:spcBef>
              <a:tabLst>
                <a:tab algn="l" pos="0"/>
              </a:tabLst>
            </a:pPr>
            <a:r>
              <a:rPr b="0" lang="en-US" sz="900" spc="-23" strike="noStrike" u="none">
                <a:solidFill>
                  <a:srgbClr val="000000"/>
                </a:solidFill>
                <a:uFillTx/>
                <a:latin typeface="Times New Roman"/>
              </a:rPr>
              <a:t>following is an explicitly illustrative grid; the path would change if the intended obstacle layout differs. 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230"/>
              </a:lnSpc>
              <a:spcBef>
                <a:spcPts val="1511"/>
              </a:spcBef>
              <a:tabLst>
                <a:tab algn="l" pos="0"/>
              </a:tabLst>
            </a:pPr>
            <a:r>
              <a:rPr b="1" lang="en-US" sz="1100" spc="3" strike="noStrike" u="none">
                <a:solidFill>
                  <a:srgbClr val="000000"/>
                </a:solidFill>
                <a:uFillTx/>
                <a:latin typeface="Times New Roman"/>
              </a:rPr>
              <a:t>Illustrative grid (assumption for demonstration) 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" name="TextBox 10"/>
          <p:cNvSpPr/>
          <p:nvPr/>
        </p:nvSpPr>
        <p:spPr>
          <a:xfrm>
            <a:off x="659160" y="3163680"/>
            <a:ext cx="618444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0" lang="en" sz="900" spc="-23" strike="noStrike" u="none">
                <a:solidFill>
                  <a:srgbClr val="000000"/>
                </a:solidFill>
                <a:uFillTx/>
                <a:latin typeface="Times New Roman"/>
              </a:rPr>
              <a:t>Legend: S = start (0,0); G = goal (4,4); ■ = blocked cell. Coordinates are (row, column). Neighbours are considered in the order Right, 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001"/>
              </a:lnSpc>
              <a:spcBef>
                <a:spcPts val="550"/>
              </a:spcBef>
              <a:tabLst>
                <a:tab algn="l" pos="0"/>
              </a:tabLst>
            </a:pPr>
            <a:r>
              <a:rPr b="0" lang="en-US" sz="900" spc="-23" strike="noStrike" u="none">
                <a:solidFill>
                  <a:srgbClr val="000000"/>
                </a:solidFill>
                <a:uFillTx/>
                <a:latin typeface="Times New Roman"/>
              </a:rPr>
              <a:t>Down, Left, Up for a reproducible trace. 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230"/>
              </a:lnSpc>
              <a:spcBef>
                <a:spcPts val="1551"/>
              </a:spcBef>
              <a:tabLst>
                <a:tab algn="l" pos="0"/>
              </a:tabLst>
            </a:pPr>
            <a:r>
              <a:rPr b="1" lang="en-US" sz="1100" spc="11" strike="noStrike" u="none">
                <a:solidFill>
                  <a:srgbClr val="000000"/>
                </a:solidFill>
                <a:uFillTx/>
                <a:latin typeface="Times New Roman"/>
              </a:rPr>
              <a:t>Search properties 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Table 3"/>
          <p:cNvGraphicFramePr/>
          <p:nvPr/>
        </p:nvGraphicFramePr>
        <p:xfrm>
          <a:off x="660240" y="1369080"/>
          <a:ext cx="6451200" cy="5399640"/>
        </p:xfrm>
        <a:graphic>
          <a:graphicData uri="http://schemas.openxmlformats.org/drawingml/2006/table">
            <a:tbl>
              <a:tblPr rtl="0" firstCol="0" lastCol="0" firstRow="0" lastRow="0" bandRow="0" bandCol="0"/>
              <a:tblGrid>
                <a:gridCol w="1610280"/>
                <a:gridCol w="1615320"/>
                <a:gridCol w="1613880"/>
                <a:gridCol w="1611360"/>
              </a:tblGrid>
              <a:tr h="407520">
                <a:tc>
                  <a:txBody>
                    <a:bodyPr lIns="0" rIns="0" tIns="95040" bIns="0" anchor="t">
                      <a:noAutofit/>
                    </a:bodyPr>
                    <a:p>
                      <a:pPr marL="57672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1" lang="en-US" sz="650" spc="17" strike="noStrike" u="none">
                          <a:solidFill>
                            <a:srgbClr val="ffffff"/>
                          </a:solidFill>
                          <a:uFillTx/>
                          <a:latin typeface="Times New Roman"/>
                        </a:rPr>
                        <a:t>Expansion</a:t>
                      </a:r>
                      <a:endParaRPr b="0" lang="en-US" sz="65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lIns="0" rIns="0" tIns="95040" bIns="0" anchor="t">
                      <a:noAutofit/>
                    </a:bodyPr>
                    <a:p>
                      <a:pPr marL="49032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1" lang="en-US" sz="650" spc="17" strike="noStrike" u="none">
                          <a:solidFill>
                            <a:srgbClr val="ffffff"/>
                          </a:solidFill>
                          <a:uFillTx/>
                          <a:latin typeface="Times New Roman"/>
                        </a:rPr>
                        <a:t>Node removed</a:t>
                      </a:r>
                      <a:endParaRPr b="0" lang="en-US" sz="65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lIns="0" rIns="0" tIns="8640" bIns="0" anchor="t">
                      <a:noAutofit/>
                    </a:bodyPr>
                    <a:p>
                      <a:pPr marL="173880" defTabSz="91440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1" lang="en-US" sz="650" spc="17" strike="noStrike" u="none">
                          <a:solidFill>
                            <a:srgbClr val="ffffff"/>
                          </a:solidFill>
                          <a:uFillTx/>
                          <a:latin typeface="Times New Roman"/>
                        </a:rPr>
                        <a:t>New valid neighbours (Right, </a:t>
                      </a:r>
                      <a:endParaRPr b="0" lang="en-US" sz="65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  <a:p>
                      <a:pPr marL="320040" defTabSz="914400">
                        <a:lnSpc>
                          <a:spcPts val="870"/>
                        </a:lnSpc>
                        <a:spcBef>
                          <a:spcPts val="499"/>
                        </a:spcBef>
                        <a:tabLst>
                          <a:tab algn="l" pos="0"/>
                        </a:tabLst>
                      </a:pPr>
                      <a:r>
                        <a:rPr b="1" lang="en-US" sz="650" spc="17" strike="noStrike" u="none">
                          <a:solidFill>
                            <a:srgbClr val="ffffff"/>
                          </a:solidFill>
                          <a:uFillTx/>
                          <a:latin typeface="Times New Roman"/>
                        </a:rPr>
                        <a:t>Down, Left, Up order)</a:t>
                      </a:r>
                      <a:endParaRPr b="0" lang="en-US" sz="65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lIns="0" rIns="0" tIns="8640" bIns="0" anchor="t">
                      <a:noAutofit/>
                    </a:bodyPr>
                    <a:p>
                      <a:pPr marL="322560" defTabSz="91440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1" lang="en-US" sz="650" spc="17" strike="noStrike" u="none">
                          <a:solidFill>
                            <a:srgbClr val="ffffff"/>
                          </a:solidFill>
                          <a:uFillTx/>
                          <a:latin typeface="Times New Roman"/>
                        </a:rPr>
                        <a:t>Queue after expansion </a:t>
                      </a:r>
                      <a:endParaRPr b="0" lang="en-US" sz="65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  <a:p>
                      <a:pPr marL="514440" defTabSz="914400">
                        <a:lnSpc>
                          <a:spcPts val="870"/>
                        </a:lnSpc>
                        <a:spcBef>
                          <a:spcPts val="499"/>
                        </a:spcBef>
                        <a:tabLst>
                          <a:tab algn="l" pos="0"/>
                        </a:tabLst>
                      </a:pPr>
                      <a:r>
                        <a:rPr b="1" lang="en-US" sz="650" spc="17" strike="noStrike" u="none">
                          <a:solidFill>
                            <a:srgbClr val="ffffff"/>
                          </a:solidFill>
                          <a:uFillTx/>
                          <a:latin typeface="Times New Roman"/>
                        </a:rPr>
                        <a:t>(abbreviated)</a:t>
                      </a:r>
                      <a:endParaRPr b="0" lang="en-US" sz="65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</a:tr>
              <a:tr h="233640">
                <a:tc>
                  <a:txBody>
                    <a:bodyPr lIns="0" rIns="0" tIns="6120" bIns="0" anchor="t">
                      <a:noAutofit/>
                    </a:bodyPr>
                    <a:p>
                      <a:pPr marL="6876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17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1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6120" bIns="0" anchor="t">
                      <a:noAutofit/>
                    </a:bodyPr>
                    <a:p>
                      <a:pPr marL="6876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17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S (0,0)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6120" bIns="0" anchor="t">
                      <a:noAutofit/>
                    </a:bodyPr>
                    <a:p>
                      <a:pPr marL="6876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1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(0,1), (1,0)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6120" bIns="0" anchor="t">
                      <a:noAutofit/>
                    </a:bodyPr>
                    <a:p>
                      <a:pPr marL="6984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1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(0,1), (1,0)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33640">
                <a:tc>
                  <a:txBody>
                    <a:bodyPr lIns="0" rIns="0" tIns="6120" bIns="0" anchor="t">
                      <a:noAutofit/>
                    </a:bodyPr>
                    <a:p>
                      <a:pPr marL="68760" defTabSz="91440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17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2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lIns="0" rIns="0" tIns="6120" bIns="0" anchor="t">
                      <a:noAutofit/>
                    </a:bodyPr>
                    <a:p>
                      <a:pPr marL="68760" defTabSz="91440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17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(0,1)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lIns="0" rIns="0" tIns="6120" bIns="0" anchor="t">
                      <a:noAutofit/>
                    </a:bodyPr>
                    <a:p>
                      <a:pPr marL="68760" defTabSz="91440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17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(0,2)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lIns="0" rIns="0" tIns="6120" bIns="0" anchor="t">
                      <a:noAutofit/>
                    </a:bodyPr>
                    <a:p>
                      <a:pPr marL="69840" defTabSz="91440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1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(1,0), (0,2)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233640">
                <a:tc>
                  <a:txBody>
                    <a:bodyPr lIns="0" rIns="0" tIns="2520" bIns="0" anchor="t">
                      <a:noAutofit/>
                    </a:bodyPr>
                    <a:p>
                      <a:pPr marL="6876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17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3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2520" bIns="0" anchor="t">
                      <a:noAutofit/>
                    </a:bodyPr>
                    <a:p>
                      <a:pPr marL="6876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17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(1,0)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2520" bIns="0" anchor="t">
                      <a:noAutofit/>
                    </a:bodyPr>
                    <a:p>
                      <a:pPr marL="6876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17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(2,0)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2520" bIns="0" anchor="t">
                      <a:noAutofit/>
                    </a:bodyPr>
                    <a:p>
                      <a:pPr marL="6984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1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(0,2), (2,0)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32200">
                <a:tc>
                  <a:txBody>
                    <a:bodyPr lIns="0" rIns="0" tIns="2520" bIns="0" anchor="t">
                      <a:noAutofit/>
                    </a:bodyPr>
                    <a:p>
                      <a:pPr marL="68760" defTabSz="91440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17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4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lIns="0" rIns="0" tIns="2520" bIns="0" anchor="t">
                      <a:noAutofit/>
                    </a:bodyPr>
                    <a:p>
                      <a:pPr marL="68760" defTabSz="91440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17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(0,2)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lIns="0" rIns="0" tIns="2520" bIns="0" anchor="t">
                      <a:noAutofit/>
                    </a:bodyPr>
                    <a:p>
                      <a:pPr marL="68760" defTabSz="91440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17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(0,3)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lIns="0" rIns="0" tIns="2520" bIns="0" anchor="t">
                      <a:noAutofit/>
                    </a:bodyPr>
                    <a:p>
                      <a:pPr marL="69840" defTabSz="91440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1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(2,0), (0,3)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233640">
                <a:tc>
                  <a:txBody>
                    <a:bodyPr lIns="0" rIns="0" tIns="1080" bIns="0" anchor="t">
                      <a:noAutofit/>
                    </a:bodyPr>
                    <a:p>
                      <a:pPr marL="6876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17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5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1080" bIns="0" anchor="t">
                      <a:noAutofit/>
                    </a:bodyPr>
                    <a:p>
                      <a:pPr marL="6876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17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(2,0)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1080" bIns="0" anchor="t">
                      <a:noAutofit/>
                    </a:bodyPr>
                    <a:p>
                      <a:pPr marL="6876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1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(2,1), (3,0)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1080" bIns="0" anchor="t">
                      <a:noAutofit/>
                    </a:bodyPr>
                    <a:p>
                      <a:pPr marL="6984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17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(0,3), (2,1), (3,0)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28600">
                <a:tc>
                  <a:txBody>
                    <a:bodyPr lIns="0" rIns="0" tIns="1080" bIns="0" anchor="t">
                      <a:noAutofit/>
                    </a:bodyPr>
                    <a:p>
                      <a:pPr marL="6876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17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6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lIns="0" rIns="0" tIns="1080" bIns="0" anchor="t">
                      <a:noAutofit/>
                    </a:bodyPr>
                    <a:p>
                      <a:pPr marL="6876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17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(0,3)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lIns="0" rIns="0" tIns="1080" bIns="0" anchor="t">
                      <a:noAutofit/>
                    </a:bodyPr>
                    <a:p>
                      <a:pPr marL="6876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1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(0,4), (1,3)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lIns="0" rIns="0" tIns="1080" bIns="0" anchor="t">
                      <a:noAutofit/>
                    </a:bodyPr>
                    <a:p>
                      <a:pPr marL="6984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17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(2,1), (3,0), (0,4), (1,3)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232200">
                <a:tc>
                  <a:txBody>
                    <a:bodyPr lIns="0" rIns="0" tIns="6120" bIns="0" anchor="t">
                      <a:noAutofit/>
                    </a:bodyPr>
                    <a:p>
                      <a:pPr marL="68760" defTabSz="91440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17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7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6120" bIns="0" anchor="t">
                      <a:noAutofit/>
                    </a:bodyPr>
                    <a:p>
                      <a:pPr marL="68760" defTabSz="91440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17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(2,1)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6120" bIns="0" anchor="t">
                      <a:noAutofit/>
                    </a:bodyPr>
                    <a:p>
                      <a:pPr marL="68760" defTabSz="91440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1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(2,2), (3,1)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6120" bIns="0" anchor="t">
                      <a:noAutofit/>
                    </a:bodyPr>
                    <a:p>
                      <a:pPr marL="69840" defTabSz="91440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17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(3,0), (0,4), (1,3), (2,2), (3,1)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33640">
                <a:tc>
                  <a:txBody>
                    <a:bodyPr lIns="0" rIns="0" tIns="7560" bIns="0" anchor="t">
                      <a:noAutofit/>
                    </a:bodyPr>
                    <a:p>
                      <a:pPr marL="6876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17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8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lIns="0" rIns="0" tIns="7560" bIns="0" anchor="t">
                      <a:noAutofit/>
                    </a:bodyPr>
                    <a:p>
                      <a:pPr marL="6876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17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(3,0)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lIns="0" rIns="0" tIns="7560" bIns="0" anchor="t">
                      <a:noAutofit/>
                    </a:bodyPr>
                    <a:p>
                      <a:pPr marL="6876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17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(4,0)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lIns="0" rIns="0" tIns="7560" bIns="0" anchor="t">
                      <a:noAutofit/>
                    </a:bodyPr>
                    <a:p>
                      <a:pPr marL="6984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17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(0,4), (1,3), (2,2), (3,1), (4,0)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233640">
                <a:tc>
                  <a:txBody>
                    <a:bodyPr lIns="0" rIns="0" tIns="1080" bIns="0" anchor="t">
                      <a:noAutofit/>
                    </a:bodyPr>
                    <a:p>
                      <a:pPr marL="6876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17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9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1080" bIns="0" anchor="t">
                      <a:noAutofit/>
                    </a:bodyPr>
                    <a:p>
                      <a:pPr marL="6876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17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(0,4)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1080" bIns="0" anchor="t">
                      <a:noAutofit/>
                    </a:bodyPr>
                    <a:p>
                      <a:pPr marL="6876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17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(1,4)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1080" bIns="0" anchor="t">
                      <a:noAutofit/>
                    </a:bodyPr>
                    <a:p>
                      <a:pPr marL="6984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17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(1,3), (2,2), (3,1), (4,0), (1,4)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32200">
                <a:tc>
                  <a:txBody>
                    <a:bodyPr lIns="0" rIns="0" tIns="1080" bIns="0" anchor="t">
                      <a:noAutofit/>
                    </a:bodyPr>
                    <a:p>
                      <a:pPr marL="6876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17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10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lIns="0" rIns="0" tIns="1080" bIns="0" anchor="t">
                      <a:noAutofit/>
                    </a:bodyPr>
                    <a:p>
                      <a:pPr marL="6876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17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(1,3)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lIns="0" rIns="0" tIns="1080" bIns="0" anchor="t">
                      <a:noAutofit/>
                    </a:bodyPr>
                    <a:p>
                      <a:pPr marL="6876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17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(2,3)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lIns="0" rIns="0" tIns="1080" bIns="0" anchor="t">
                      <a:noAutofit/>
                    </a:bodyPr>
                    <a:p>
                      <a:pPr marL="6984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17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(2,2), (3,1), (4,0), (1,4), (2,3)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407520">
                <a:tc>
                  <a:txBody>
                    <a:bodyPr lIns="0" rIns="0" tIns="90000" bIns="0" anchor="t">
                      <a:noAutofit/>
                    </a:bodyPr>
                    <a:p>
                      <a:pPr marL="6876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17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11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90000" bIns="0" anchor="t">
                      <a:noAutofit/>
                    </a:bodyPr>
                    <a:p>
                      <a:pPr marL="6876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17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(2,2)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3600" bIns="0" anchor="t">
                      <a:noAutofit/>
                    </a:bodyPr>
                    <a:p>
                      <a:pPr marL="68760" defTabSz="91440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3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(blocked neighbours skipped; (2,3) 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68760" defTabSz="914400">
                        <a:lnSpc>
                          <a:spcPts val="870"/>
                        </a:lnSpc>
                        <a:spcBef>
                          <a:spcPts val="499"/>
                        </a:spcBef>
                        <a:tabLst>
                          <a:tab algn="l" pos="0"/>
                        </a:tabLst>
                      </a:pPr>
                      <a:r>
                        <a:rPr b="0" lang="en-US" sz="650" spc="3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already discovered)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90000" bIns="0" anchor="t">
                      <a:noAutofit/>
                    </a:bodyPr>
                    <a:p>
                      <a:pPr marL="6984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17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(3,1), (4,0), (1,4), (2,3)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33640">
                <a:tc>
                  <a:txBody>
                    <a:bodyPr lIns="0" rIns="0" tIns="1080" bIns="0" anchor="t">
                      <a:noAutofit/>
                    </a:bodyPr>
                    <a:p>
                      <a:pPr marL="6876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17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12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lIns="0" rIns="0" tIns="1080" bIns="0" anchor="t">
                      <a:noAutofit/>
                    </a:bodyPr>
                    <a:p>
                      <a:pPr marL="6876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17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(3,1)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lIns="0" rIns="0" tIns="1080" bIns="0" anchor="t">
                      <a:noAutofit/>
                    </a:bodyPr>
                    <a:p>
                      <a:pPr marL="6876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17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(4,1)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lIns="0" rIns="0" tIns="1080" bIns="0" anchor="t">
                      <a:noAutofit/>
                    </a:bodyPr>
                    <a:p>
                      <a:pPr marL="6984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17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(4,0), (1,4), (2,3), (4,1)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232200">
                <a:tc>
                  <a:txBody>
                    <a:bodyPr lIns="0" rIns="0" tIns="1080" bIns="0" anchor="t">
                      <a:noAutofit/>
                    </a:bodyPr>
                    <a:p>
                      <a:pPr marL="6876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17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13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1080" bIns="0" anchor="t">
                      <a:noAutofit/>
                    </a:bodyPr>
                    <a:p>
                      <a:pPr marL="6876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17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(4,0)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1080" bIns="0" anchor="t">
                      <a:noAutofit/>
                    </a:bodyPr>
                    <a:p>
                      <a:pPr marL="6876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6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(4,1) already discovered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1080" bIns="0" anchor="t">
                      <a:noAutofit/>
                    </a:bodyPr>
                    <a:p>
                      <a:pPr marL="6984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17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(1,4), (2,3), (4,1)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28600">
                <a:tc>
                  <a:txBody>
                    <a:bodyPr lIns="0" rIns="0" tIns="3600" bIns="0" anchor="t">
                      <a:noAutofit/>
                    </a:bodyPr>
                    <a:p>
                      <a:pPr marL="68760" defTabSz="91440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17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14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lIns="0" rIns="0" tIns="3600" bIns="0" anchor="t">
                      <a:noAutofit/>
                    </a:bodyPr>
                    <a:p>
                      <a:pPr marL="68760" defTabSz="91440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17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(1,4)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lIns="0" rIns="0" tIns="3600" bIns="0" anchor="t">
                      <a:noAutofit/>
                    </a:bodyPr>
                    <a:p>
                      <a:pPr marL="68760" defTabSz="91440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17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(2,4)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lIns="0" rIns="0" tIns="3600" bIns="0" anchor="t">
                      <a:noAutofit/>
                    </a:bodyPr>
                    <a:p>
                      <a:pPr marL="69840" defTabSz="91440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17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(2,3), (4,1), (2,4)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407520">
                <a:tc>
                  <a:txBody>
                    <a:bodyPr lIns="0" rIns="0" tIns="95040" bIns="0" anchor="t">
                      <a:noAutofit/>
                    </a:bodyPr>
                    <a:p>
                      <a:pPr marL="68760" defTabSz="91440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17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15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95040" bIns="0" anchor="t">
                      <a:noAutofit/>
                    </a:bodyPr>
                    <a:p>
                      <a:pPr marL="68760" defTabSz="91440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17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(2,3)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7560" bIns="0" anchor="t">
                      <a:noAutofit/>
                    </a:bodyPr>
                    <a:p>
                      <a:pPr marL="6876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6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(3,3) blocked; (2,4) already 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68760" defTabSz="914400">
                        <a:lnSpc>
                          <a:spcPts val="879"/>
                        </a:lnSpc>
                        <a:spcBef>
                          <a:spcPts val="490"/>
                        </a:spcBef>
                        <a:tabLst>
                          <a:tab algn="l" pos="0"/>
                        </a:tabLst>
                      </a:pPr>
                      <a:r>
                        <a:rPr b="0" lang="en-US" sz="650" spc="6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discovered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95040" bIns="0" anchor="t">
                      <a:noAutofit/>
                    </a:bodyPr>
                    <a:p>
                      <a:pPr marL="69840" defTabSz="91440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1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(4,1), (2,4)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33640">
                <a:tc>
                  <a:txBody>
                    <a:bodyPr lIns="0" rIns="0" tIns="6120" bIns="0" anchor="t">
                      <a:noAutofit/>
                    </a:bodyPr>
                    <a:p>
                      <a:pPr marL="6876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17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16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lIns="0" rIns="0" tIns="6120" bIns="0" anchor="t">
                      <a:noAutofit/>
                    </a:bodyPr>
                    <a:p>
                      <a:pPr marL="6876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17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(4,1)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lIns="0" rIns="0" tIns="6120" bIns="0" anchor="t">
                      <a:noAutofit/>
                    </a:bodyPr>
                    <a:p>
                      <a:pPr marL="6876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17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(4,2)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lIns="0" rIns="0" tIns="6120" bIns="0" anchor="t">
                      <a:noAutofit/>
                    </a:bodyPr>
                    <a:p>
                      <a:pPr marL="6984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1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(2,4), (4,2)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233640">
                <a:tc>
                  <a:txBody>
                    <a:bodyPr lIns="0" rIns="0" tIns="6120" bIns="0" anchor="t">
                      <a:noAutofit/>
                    </a:bodyPr>
                    <a:p>
                      <a:pPr marL="68760" defTabSz="91440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17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17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6120" bIns="0" anchor="t">
                      <a:noAutofit/>
                    </a:bodyPr>
                    <a:p>
                      <a:pPr marL="68760" defTabSz="91440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17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(2,4)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6120" bIns="0" anchor="t">
                      <a:noAutofit/>
                    </a:bodyPr>
                    <a:p>
                      <a:pPr marL="68760" defTabSz="91440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17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(3,4)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6120" bIns="0" anchor="t">
                      <a:noAutofit/>
                    </a:bodyPr>
                    <a:p>
                      <a:pPr marL="69840" defTabSz="91440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1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(4,2), (3,4)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32200">
                <a:tc>
                  <a:txBody>
                    <a:bodyPr lIns="0" rIns="0" tIns="6120" bIns="0" anchor="t">
                      <a:noAutofit/>
                    </a:bodyPr>
                    <a:p>
                      <a:pPr marL="6876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17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18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lIns="0" rIns="0" tIns="6120" bIns="0" anchor="t">
                      <a:noAutofit/>
                    </a:bodyPr>
                    <a:p>
                      <a:pPr marL="6876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17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(4,2)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lIns="0" rIns="0" tIns="6120" bIns="0" anchor="t">
                      <a:noAutofit/>
                    </a:bodyPr>
                    <a:p>
                      <a:pPr marL="6876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17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(4,3)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lIns="0" rIns="0" tIns="6120" bIns="0" anchor="t">
                      <a:noAutofit/>
                    </a:bodyPr>
                    <a:p>
                      <a:pPr marL="6984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1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(3,4), (4,3)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233640">
                <a:tc>
                  <a:txBody>
                    <a:bodyPr lIns="0" rIns="0" tIns="1080" bIns="0" anchor="t">
                      <a:noAutofit/>
                    </a:bodyPr>
                    <a:p>
                      <a:pPr marL="6876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17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19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1080" bIns="0" anchor="t">
                      <a:noAutofit/>
                    </a:bodyPr>
                    <a:p>
                      <a:pPr marL="6876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17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(3,4)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1080" bIns="0" anchor="t">
                      <a:noAutofit/>
                    </a:bodyPr>
                    <a:p>
                      <a:pPr marL="6876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(4,4) = G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1080" bIns="0" anchor="t">
                      <a:noAutofit/>
                    </a:bodyPr>
                    <a:p>
                      <a:pPr marL="6984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3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(4,3), G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20680">
                <a:tc>
                  <a:txBody>
                    <a:bodyPr lIns="0" rIns="0" tIns="1080" bIns="0" anchor="t">
                      <a:noAutofit/>
                    </a:bodyPr>
                    <a:p>
                      <a:pPr marL="6876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17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20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lIns="0" rIns="0" tIns="1080" bIns="0" anchor="t">
                      <a:noAutofit/>
                    </a:bodyPr>
                    <a:p>
                      <a:pPr marL="6876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17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(4,3)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lIns="0" rIns="0" tIns="1080" bIns="0" anchor="t">
                      <a:noAutofit/>
                    </a:bodyPr>
                    <a:p>
                      <a:pPr marL="6876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3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G already discovered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lIns="0" rIns="0" tIns="1080" bIns="0" anchor="t">
                      <a:noAutofit/>
                    </a:bodyPr>
                    <a:p>
                      <a:pPr marL="6984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-17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G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</a:tbl>
          </a:graphicData>
        </a:graphic>
      </p:graphicFrame>
      <p:sp>
        <p:nvSpPr>
          <p:cNvPr id="23" name="TextBox 2"/>
          <p:cNvSpPr/>
          <p:nvPr/>
        </p:nvSpPr>
        <p:spPr>
          <a:xfrm>
            <a:off x="659160" y="596880"/>
            <a:ext cx="6409440" cy="65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ts val="1678"/>
              </a:lnSpc>
              <a:tabLst>
                <a:tab algn="l" pos="0"/>
              </a:tabLst>
            </a:pPr>
            <a:r>
              <a:rPr b="1" lang="en" sz="1500" spc="-14" strike="noStrike" u="none">
                <a:solidFill>
                  <a:srgbClr val="000000"/>
                </a:solidFill>
                <a:uFillTx/>
                <a:latin typeface="Times New Roman"/>
              </a:rPr>
              <a:t>2. Robot Navigation — Node Expansion and Result 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001"/>
              </a:lnSpc>
              <a:spcBef>
                <a:spcPts val="918"/>
              </a:spcBef>
              <a:tabLst>
                <a:tab algn="l" pos="0"/>
              </a:tabLst>
            </a:pPr>
            <a:r>
              <a:rPr b="0" lang="en-US" sz="900" spc="-23" strike="noStrike" u="none">
                <a:solidFill>
                  <a:srgbClr val="000000"/>
                </a:solidFill>
                <a:uFillTx/>
                <a:latin typeface="Times New Roman"/>
              </a:rPr>
              <a:t>Using the illustrative grid on the previous page, breadth-first search (BFS) stores discovered cells in a FIFO queue and marks them visited 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001"/>
              </a:lnSpc>
              <a:spcBef>
                <a:spcPts val="550"/>
              </a:spcBef>
              <a:tabLst>
                <a:tab algn="l" pos="0"/>
              </a:tabLst>
            </a:pPr>
            <a:r>
              <a:rPr b="0" lang="en-US" sz="900" spc="-23" strike="noStrike" u="none">
                <a:solidFill>
                  <a:srgbClr val="000000"/>
                </a:solidFill>
                <a:uFillTx/>
                <a:latin typeface="Times New Roman"/>
              </a:rPr>
              <a:t>when enqueued. The heuristic is calculated for reference; unlike Greedy Best-First Search or A*, it does not change BFS's expansion order. 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" name="TextBox 4"/>
          <p:cNvSpPr/>
          <p:nvPr/>
        </p:nvSpPr>
        <p:spPr>
          <a:xfrm>
            <a:off x="659160" y="7038360"/>
            <a:ext cx="6427080" cy="56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1" lang="en" sz="900" spc="23" strike="noStrike" u="none">
                <a:solidFill>
                  <a:srgbClr val="000000"/>
                </a:solidFill>
                <a:uFillTx/>
                <a:latin typeface="Times New Roman"/>
              </a:rPr>
              <a:t>One shortest path: (0,0) → (0,1) → (0,2) → (0,3) → (0,4) → (1,4) → (2,4) → (3,4) → (4,4)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989"/>
              </a:lnSpc>
              <a:spcBef>
                <a:spcPts val="910"/>
              </a:spcBef>
              <a:tabLst>
                <a:tab algn="l" pos="0"/>
              </a:tabLst>
            </a:pPr>
            <a:r>
              <a:rPr b="0" lang="en-US" sz="900" spc="-23" strike="noStrike" u="none">
                <a:solidFill>
                  <a:srgbClr val="000000"/>
                </a:solidFill>
                <a:uFillTx/>
                <a:latin typeface="Times New Roman"/>
              </a:rPr>
              <a:t>Path cost = 8 moves × 1 per move = 8. This result is for the illustrative obstacle arrangement only. If the instructor intended a different grid, 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989"/>
              </a:lnSpc>
              <a:spcBef>
                <a:spcPts val="601"/>
              </a:spcBef>
              <a:tabLst>
                <a:tab algn="l" pos="0"/>
              </a:tabLst>
            </a:pPr>
            <a:r>
              <a:rPr b="0" lang="en-US" sz="900" spc="-23" strike="noStrike" u="none">
                <a:solidFill>
                  <a:srgbClr val="000000"/>
                </a:solidFill>
                <a:uFillTx/>
                <a:latin typeface="Times New Roman"/>
              </a:rPr>
              <a:t>use that layout and repeat the BFS trace. 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" name="Table 3"/>
          <p:cNvGraphicFramePr/>
          <p:nvPr/>
        </p:nvGraphicFramePr>
        <p:xfrm>
          <a:off x="660240" y="1690200"/>
          <a:ext cx="6451200" cy="2900160"/>
        </p:xfrm>
        <a:graphic>
          <a:graphicData uri="http://schemas.openxmlformats.org/drawingml/2006/table">
            <a:tbl>
              <a:tblPr rtl="0" firstCol="0" lastCol="0" firstRow="0" lastRow="0" bandRow="0" bandCol="0"/>
              <a:tblGrid>
                <a:gridCol w="3225600"/>
                <a:gridCol w="3225600"/>
              </a:tblGrid>
              <a:tr h="228600">
                <a:tc>
                  <a:txBody>
                    <a:bodyPr lIns="0" rIns="0" tIns="1080" bIns="0" anchor="t">
                      <a:noAutofit/>
                    </a:bodyPr>
                    <a:p>
                      <a:pPr marL="137808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1" lang="en-US" sz="650" spc="17" strike="noStrike" u="none">
                          <a:solidFill>
                            <a:srgbClr val="ffffff"/>
                          </a:solidFill>
                          <a:uFillTx/>
                          <a:latin typeface="Times New Roman"/>
                        </a:rPr>
                        <a:t>Constraint</a:t>
                      </a:r>
                      <a:endParaRPr b="0" lang="en-US" sz="65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lIns="0" rIns="0" tIns="1080" bIns="0" anchor="t">
                      <a:noAutofit/>
                    </a:bodyPr>
                    <a:p>
                      <a:pPr marL="104760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1" lang="en-US" sz="650" spc="17" strike="noStrike" u="none">
                          <a:solidFill>
                            <a:srgbClr val="ffffff"/>
                          </a:solidFill>
                          <a:uFillTx/>
                          <a:latin typeface="Times New Roman"/>
                        </a:rPr>
                        <a:t>Effect on decision-making</a:t>
                      </a:r>
                      <a:endParaRPr b="0" lang="en-US" sz="65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</a:tr>
              <a:tr h="411480">
                <a:tc>
                  <a:txBody>
                    <a:bodyPr lIns="0" rIns="0" tIns="92520" bIns="0" anchor="t">
                      <a:noAutofit/>
                    </a:bodyPr>
                    <a:p>
                      <a:pPr marL="6876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-3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Four-direction movement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6120" bIns="0" anchor="t">
                      <a:noAutofit/>
                    </a:bodyPr>
                    <a:p>
                      <a:pPr marL="68760" defTabSz="91440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3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Only up, down, left and right successors may be considered; diagonal 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68760" defTabSz="914400">
                        <a:lnSpc>
                          <a:spcPts val="870"/>
                        </a:lnSpc>
                        <a:spcBef>
                          <a:spcPts val="499"/>
                        </a:spcBef>
                        <a:tabLst>
                          <a:tab algn="l" pos="0"/>
                        </a:tabLst>
                      </a:pPr>
                      <a:r>
                        <a:rPr b="0" lang="en-US" sz="650" spc="-3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shortcuts are not allowed.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07520">
                <a:tc>
                  <a:txBody>
                    <a:bodyPr lIns="0" rIns="0" tIns="88560" bIns="0" anchor="t">
                      <a:noAutofit/>
                    </a:bodyPr>
                    <a:p>
                      <a:pPr marL="6876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17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Blocked cells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lIns="0" rIns="0" tIns="1080" bIns="0" anchor="t">
                      <a:noAutofit/>
                    </a:bodyPr>
                    <a:p>
                      <a:pPr marL="6876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The robot must reject known blocked cells and avoid routes that pass 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68760" defTabSz="914400">
                        <a:lnSpc>
                          <a:spcPts val="879"/>
                        </a:lnSpc>
                        <a:spcBef>
                          <a:spcPts val="490"/>
                        </a:spcBef>
                        <a:tabLst>
                          <a:tab algn="l" pos="0"/>
                        </a:tabLst>
                      </a:pPr>
                      <a:r>
                        <a:rPr b="0" lang="en-US" sz="650" spc="-9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through them.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406080">
                <a:tc>
                  <a:txBody>
                    <a:bodyPr lIns="0" rIns="0" tIns="87480" bIns="0" anchor="t">
                      <a:noAutofit/>
                    </a:bodyPr>
                    <a:p>
                      <a:pPr marL="6876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6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Limited sensing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1080" bIns="0" anchor="t">
                      <a:noAutofit/>
                    </a:bodyPr>
                    <a:p>
                      <a:pPr marL="6876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3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The complete map is not initially available; the robot must infer the local 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68760" defTabSz="914400">
                        <a:lnSpc>
                          <a:spcPts val="879"/>
                        </a:lnSpc>
                        <a:spcBef>
                          <a:spcPts val="490"/>
                        </a:spcBef>
                        <a:tabLst>
                          <a:tab algn="l" pos="0"/>
                        </a:tabLst>
                      </a:pPr>
                      <a:r>
                        <a:rPr b="0" lang="en-US" sz="65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state and explore carefully.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33640">
                <a:tc>
                  <a:txBody>
                    <a:bodyPr lIns="0" rIns="0" tIns="1080" bIns="0" anchor="t">
                      <a:noAutofit/>
                    </a:bodyPr>
                    <a:p>
                      <a:pPr marL="6876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3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Movement cost 1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lIns="0" rIns="0" tIns="1080" bIns="0" anchor="t">
                      <a:noAutofit/>
                    </a:bodyPr>
                    <a:p>
                      <a:pPr marL="6876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Each ordinary move adds 1 to accumulated path cost.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406080">
                <a:tc>
                  <a:txBody>
                    <a:bodyPr lIns="0" rIns="0" tIns="87480" bIns="0" anchor="t">
                      <a:noAutofit/>
                    </a:bodyPr>
                    <a:p>
                      <a:pPr marL="6876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Risk-zone surcharge +2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1080" bIns="0" anchor="t">
                      <a:noAutofit/>
                    </a:bodyPr>
                    <a:p>
                      <a:pPr marL="6876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Entering a risky cell costs 1 + 2 = 3, so the robot should compare routes by 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68760" defTabSz="914400">
                        <a:lnSpc>
                          <a:spcPts val="879"/>
                        </a:lnSpc>
                        <a:spcBef>
                          <a:spcPts val="490"/>
                        </a:spcBef>
                        <a:tabLst>
                          <a:tab algn="l" pos="0"/>
                        </a:tabLst>
                      </a:pPr>
                      <a:r>
                        <a:rPr b="0" lang="en-US" sz="650" spc="-3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total cost, not distance alone.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07520">
                <a:tc>
                  <a:txBody>
                    <a:bodyPr lIns="0" rIns="0" tIns="90000" bIns="0" anchor="t">
                      <a:noAutofit/>
                    </a:bodyPr>
                    <a:p>
                      <a:pPr marL="6876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3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Dynamic knowledge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lIns="0" rIns="0" tIns="3600" bIns="0" anchor="t">
                      <a:noAutofit/>
                    </a:bodyPr>
                    <a:p>
                      <a:pPr marL="68760" defTabSz="91440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3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New observations may reveal an obstacle or a safe passage, requiring the 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68760" defTabSz="914400">
                        <a:lnSpc>
                          <a:spcPts val="879"/>
                        </a:lnSpc>
                        <a:spcBef>
                          <a:spcPts val="530"/>
                        </a:spcBef>
                        <a:tabLst>
                          <a:tab algn="l" pos="0"/>
                        </a:tabLst>
                      </a:pPr>
                      <a:r>
                        <a:rPr b="0" lang="en-US" sz="650" spc="-6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internal map and plan to be updated.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398520">
                <a:tc>
                  <a:txBody>
                    <a:bodyPr lIns="0" rIns="0" tIns="92520" bIns="0" anchor="t">
                      <a:noAutofit/>
                    </a:bodyPr>
                    <a:p>
                      <a:pPr marL="6876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Safety requirement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1080" bIns="0" anchor="t">
                      <a:noAutofit/>
                    </a:bodyPr>
                    <a:p>
                      <a:pPr marL="6876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The robot should favour verified traversable routes and avoid unnecessary 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68760" defTabSz="914400">
                        <a:lnSpc>
                          <a:spcPts val="870"/>
                        </a:lnSpc>
                        <a:spcBef>
                          <a:spcPts val="530"/>
                        </a:spcBef>
                        <a:tabLst>
                          <a:tab algn="l" pos="0"/>
                        </a:tabLst>
                      </a:pPr>
                      <a:r>
                        <a:rPr b="0" lang="en-US" sz="65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exposure to risk.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6" name="TextBox 2"/>
          <p:cNvSpPr/>
          <p:nvPr/>
        </p:nvSpPr>
        <p:spPr>
          <a:xfrm>
            <a:off x="659160" y="596880"/>
            <a:ext cx="6263280" cy="100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ts val="1678"/>
              </a:lnSpc>
              <a:tabLst>
                <a:tab algn="l" pos="0"/>
              </a:tabLst>
            </a:pPr>
            <a:r>
              <a:rPr b="1" lang="en" sz="1500" spc="-3" strike="noStrike" u="none">
                <a:solidFill>
                  <a:srgbClr val="000000"/>
                </a:solidFill>
                <a:uFillTx/>
                <a:latin typeface="Times New Roman"/>
              </a:rPr>
              <a:t>3. Autonomous Rescue Robot in a Partially Observable Building 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001"/>
              </a:lnSpc>
              <a:spcBef>
                <a:spcPts val="918"/>
              </a:spcBef>
              <a:tabLst>
                <a:tab algn="l" pos="0"/>
              </a:tabLst>
            </a:pPr>
            <a:r>
              <a:rPr b="0" lang="en-US" sz="900" spc="-23" strike="noStrike" u="none">
                <a:solidFill>
                  <a:srgbClr val="000000"/>
                </a:solidFill>
                <a:uFillTx/>
                <a:latin typeface="Times New Roman"/>
              </a:rPr>
              <a:t>The rescue robot must move from S to survivor location G in a grid with blocked cells and limited sensing. It can observe only adjacent 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001"/>
              </a:lnSpc>
              <a:spcBef>
                <a:spcPts val="550"/>
              </a:spcBef>
              <a:tabLst>
                <a:tab algn="l" pos="0"/>
              </a:tabLst>
            </a:pPr>
            <a:r>
              <a:rPr b="0" lang="en-US" sz="900" spc="-23" strike="noStrike" u="none">
                <a:solidFill>
                  <a:srgbClr val="000000"/>
                </a:solidFill>
                <a:uFillTx/>
                <a:latin typeface="Times New Roman"/>
              </a:rPr>
              <a:t>cells, movement costs 1, entering a risky zone adds 2, and the robot must update its knowledge online while prioritizing safe navigation. 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230"/>
              </a:lnSpc>
              <a:spcBef>
                <a:spcPts val="1511"/>
              </a:spcBef>
              <a:tabLst>
                <a:tab algn="l" pos="0"/>
              </a:tabLst>
            </a:pPr>
            <a:r>
              <a:rPr b="1" lang="en-US" sz="1100" strike="noStrike" u="none">
                <a:solidFill>
                  <a:srgbClr val="000000"/>
                </a:solidFill>
                <a:uFillTx/>
                <a:latin typeface="Times New Roman"/>
              </a:rPr>
              <a:t>a) How the constraints affect decisions 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" name="TextBox 4"/>
          <p:cNvSpPr/>
          <p:nvPr/>
        </p:nvSpPr>
        <p:spPr>
          <a:xfrm>
            <a:off x="659160" y="4927680"/>
            <a:ext cx="6434640" cy="152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ts val="1239"/>
              </a:lnSpc>
              <a:tabLst>
                <a:tab algn="l" pos="0"/>
              </a:tabLst>
            </a:pPr>
            <a:r>
              <a:rPr b="1" lang="en" sz="1100" spc="-6" strike="noStrike" u="none">
                <a:solidFill>
                  <a:srgbClr val="000000"/>
                </a:solidFill>
                <a:uFillTx/>
                <a:latin typeface="Times New Roman"/>
              </a:rPr>
              <a:t>Cost model 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989"/>
              </a:lnSpc>
              <a:spcBef>
                <a:spcPts val="689"/>
              </a:spcBef>
              <a:tabLst>
                <a:tab algn="l" pos="0"/>
              </a:tabLst>
            </a:pPr>
            <a:r>
              <a:rPr b="0" lang="en-US" sz="900" spc="-23" strike="noStrike" u="none">
                <a:solidFill>
                  <a:srgbClr val="000000"/>
                </a:solidFill>
                <a:uFillTx/>
                <a:latin typeface="Times New Roman"/>
              </a:rPr>
              <a:t>For a path P, total cost can be expressed as: Cost(P) = number of moves + 2 × number of risky cells entered. This formula assumes the extra 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001"/>
              </a:lnSpc>
              <a:spcBef>
                <a:spcPts val="550"/>
              </a:spcBef>
              <a:tabLst>
                <a:tab algn="l" pos="0"/>
              </a:tabLst>
            </a:pPr>
            <a:r>
              <a:rPr b="0" lang="en-US" sz="900" spc="-23" strike="noStrike" u="none">
                <a:solidFill>
                  <a:srgbClr val="000000"/>
                </a:solidFill>
                <a:uFillTx/>
                <a:latin typeface="Times New Roman"/>
              </a:rPr>
              <a:t>risk cost is charged once whenever a risky cell is entered; if the problem defines risk differently, the cost model should be adjusted. 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239"/>
              </a:lnSpc>
              <a:spcBef>
                <a:spcPts val="1551"/>
              </a:spcBef>
              <a:tabLst>
                <a:tab algn="l" pos="0"/>
              </a:tabLst>
            </a:pPr>
            <a:r>
              <a:rPr b="1" lang="en-US" sz="1100" spc="3" strike="noStrike" u="none">
                <a:solidFill>
                  <a:srgbClr val="000000"/>
                </a:solidFill>
                <a:uFillTx/>
                <a:latin typeface="Times New Roman"/>
              </a:rPr>
              <a:t>b) Suitable approach 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001"/>
              </a:lnSpc>
              <a:spcBef>
                <a:spcPts val="680"/>
              </a:spcBef>
              <a:tabLst>
                <a:tab algn="l" pos="0"/>
              </a:tabLst>
            </a:pPr>
            <a:r>
              <a:rPr b="0" lang="en-US" sz="900" spc="-23" strike="noStrike" u="none">
                <a:solidFill>
                  <a:srgbClr val="000000"/>
                </a:solidFill>
                <a:uFillTx/>
                <a:latin typeface="Times New Roman"/>
              </a:rPr>
              <a:t>Use an online search agent with a model-based internal map, and apply Uniform Cost Search (UCS) to the currently known traversable 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001"/>
              </a:lnSpc>
              <a:spcBef>
                <a:spcPts val="550"/>
              </a:spcBef>
              <a:tabLst>
                <a:tab algn="l" pos="0"/>
              </a:tabLst>
            </a:pPr>
            <a:r>
              <a:rPr b="0" lang="en-US" sz="900" spc="-23" strike="noStrike" u="none">
                <a:solidFill>
                  <a:srgbClr val="000000"/>
                </a:solidFill>
                <a:uFillTx/>
                <a:latin typeface="Times New Roman"/>
              </a:rPr>
              <a:t>graph. UCS expands the frontier node with the smallest accumulated cost g(n). When the robot discovers new information, it updates the 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989"/>
              </a:lnSpc>
              <a:spcBef>
                <a:spcPts val="550"/>
              </a:spcBef>
              <a:tabLst>
                <a:tab algn="l" pos="0"/>
              </a:tabLst>
            </a:pPr>
            <a:r>
              <a:rPr b="0" lang="en-US" sz="900" spc="-23" strike="noStrike" u="none">
                <a:solidFill>
                  <a:srgbClr val="000000"/>
                </a:solidFill>
                <a:uFillTx/>
                <a:latin typeface="Times New Roman"/>
              </a:rPr>
              <a:t>map and replans. This is more appropriate than plain BFS when risky cells have additional costs, because not all transitions have equal cost. 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" name="Table 3"/>
          <p:cNvGraphicFramePr/>
          <p:nvPr/>
        </p:nvGraphicFramePr>
        <p:xfrm>
          <a:off x="660240" y="4155480"/>
          <a:ext cx="6451200" cy="1747080"/>
        </p:xfrm>
        <a:graphic>
          <a:graphicData uri="http://schemas.openxmlformats.org/drawingml/2006/table">
            <a:tbl>
              <a:tblPr rtl="0" firstCol="0" lastCol="0" firstRow="0" lastRow="0" bandRow="0" bandCol="0"/>
              <a:tblGrid>
                <a:gridCol w="2149920"/>
                <a:gridCol w="2149920"/>
                <a:gridCol w="2151360"/>
              </a:tblGrid>
              <a:tr h="233640">
                <a:tc>
                  <a:txBody>
                    <a:bodyPr lIns="0" rIns="0" tIns="2520" bIns="0" anchor="t">
                      <a:noAutofit/>
                    </a:bodyPr>
                    <a:p>
                      <a:pPr marL="956160" defTabSz="91440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1" lang="en-US" sz="650" spc="17" strike="noStrike" u="none">
                          <a:solidFill>
                            <a:srgbClr val="ffffff"/>
                          </a:solidFill>
                          <a:uFillTx/>
                          <a:latin typeface="Times New Roman"/>
                        </a:rPr>
                        <a:t>Stage</a:t>
                      </a:r>
                      <a:endParaRPr b="0" lang="en-US" sz="65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lIns="0" rIns="0" tIns="2520" bIns="0" anchor="t">
                      <a:noAutofit/>
                    </a:bodyPr>
                    <a:p>
                      <a:pPr marL="631080" defTabSz="91440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1" lang="en-US" sz="650" spc="17" strike="noStrike" u="none">
                          <a:solidFill>
                            <a:srgbClr val="ffffff"/>
                          </a:solidFill>
                          <a:uFillTx/>
                          <a:latin typeface="Times New Roman"/>
                        </a:rPr>
                        <a:t>What the robot does</a:t>
                      </a:r>
                      <a:endParaRPr b="0" lang="en-US" sz="65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lIns="0" rIns="0" tIns="2520" bIns="0" anchor="t">
                      <a:noAutofit/>
                    </a:bodyPr>
                    <a:p>
                      <a:pPr marL="837000" defTabSz="91440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1" lang="en-US" sz="650" spc="17" strike="noStrike" u="none">
                          <a:solidFill>
                            <a:srgbClr val="ffffff"/>
                          </a:solidFill>
                          <a:uFillTx/>
                          <a:latin typeface="Times New Roman"/>
                        </a:rPr>
                        <a:t>AI concept</a:t>
                      </a:r>
                      <a:endParaRPr b="0" lang="en-US" sz="65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</a:tr>
              <a:tr h="406080">
                <a:tc>
                  <a:txBody>
                    <a:bodyPr lIns="0" rIns="0" tIns="88560" bIns="0" anchor="t">
                      <a:noAutofit/>
                    </a:bodyPr>
                    <a:p>
                      <a:pPr marL="68760" defTabSz="91440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17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Perceive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1080" bIns="0" anchor="t">
                      <a:noAutofit/>
                    </a:bodyPr>
                    <a:p>
                      <a:pPr marL="6876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3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Sense adjacent cells and identify blocked, open 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68760" defTabSz="914400">
                        <a:lnSpc>
                          <a:spcPts val="879"/>
                        </a:lnSpc>
                        <a:spcBef>
                          <a:spcPts val="490"/>
                        </a:spcBef>
                        <a:tabLst>
                          <a:tab algn="l" pos="0"/>
                        </a:tabLst>
                      </a:pPr>
                      <a:r>
                        <a:rPr b="0" lang="en-US" sz="650" spc="6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or risky spaces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88560" bIns="0" anchor="t">
                      <a:noAutofit/>
                    </a:bodyPr>
                    <a:p>
                      <a:pPr marL="68760" defTabSz="91440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Perception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07520">
                <a:tc>
                  <a:txBody>
                    <a:bodyPr lIns="0" rIns="0" tIns="88560" bIns="0" anchor="t">
                      <a:noAutofit/>
                    </a:bodyPr>
                    <a:p>
                      <a:pPr marL="6876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-17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Update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lIns="0" rIns="0" tIns="2520" bIns="0" anchor="t">
                      <a:noAutofit/>
                    </a:bodyPr>
                    <a:p>
                      <a:pPr marL="68760" defTabSz="91440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Revise internal map and current position 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68760" defTabSz="914400">
                        <a:lnSpc>
                          <a:spcPts val="870"/>
                        </a:lnSpc>
                        <a:spcBef>
                          <a:spcPts val="499"/>
                        </a:spcBef>
                        <a:tabLst>
                          <a:tab algn="l" pos="0"/>
                        </a:tabLst>
                      </a:pPr>
                      <a:r>
                        <a:rPr b="0" lang="en-US" sz="650" spc="-3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estimate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lIns="0" rIns="0" tIns="88560" bIns="0" anchor="t">
                      <a:noAutofit/>
                    </a:bodyPr>
                    <a:p>
                      <a:pPr marL="6876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Model-based agent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232200">
                <a:tc>
                  <a:txBody>
                    <a:bodyPr lIns="0" rIns="0" tIns="1080" bIns="0" anchor="t">
                      <a:noAutofit/>
                    </a:bodyPr>
                    <a:p>
                      <a:pPr marL="6876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Plan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1080" bIns="0" anchor="t">
                      <a:noAutofit/>
                    </a:bodyPr>
                    <a:p>
                      <a:pPr marL="6876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Compare known paths using accumulated cost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1080" bIns="0" anchor="t">
                      <a:noAutofit/>
                    </a:bodyPr>
                    <a:p>
                      <a:pPr marL="6876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Search / rational choice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34720">
                <a:tc>
                  <a:txBody>
                    <a:bodyPr lIns="0" rIns="0" tIns="3600" bIns="0" anchor="t">
                      <a:noAutofit/>
                    </a:bodyPr>
                    <a:p>
                      <a:pPr marL="68760" defTabSz="91440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Act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lIns="0" rIns="0" tIns="3600" bIns="0" anchor="t">
                      <a:noAutofit/>
                    </a:bodyPr>
                    <a:p>
                      <a:pPr marL="68760" defTabSz="91440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3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Take the next safe step on the selected route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lIns="0" rIns="0" tIns="3600" bIns="0" anchor="t">
                      <a:noAutofit/>
                    </a:bodyPr>
                    <a:p>
                      <a:pPr marL="68760" defTabSz="91440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-3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Action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232200">
                <a:tc>
                  <a:txBody>
                    <a:bodyPr lIns="0" rIns="0" tIns="2520" bIns="0" anchor="t">
                      <a:noAutofit/>
                    </a:bodyPr>
                    <a:p>
                      <a:pPr marL="68760" defTabSz="91440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-3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Learn and replan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2520" bIns="0" anchor="t">
                      <a:noAutofit/>
                    </a:bodyPr>
                    <a:p>
                      <a:pPr marL="68760" defTabSz="91440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3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Use new observations to revise route decisions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2520" bIns="0" anchor="t">
                      <a:noAutofit/>
                    </a:bodyPr>
                    <a:p>
                      <a:pPr marL="68760" defTabSz="91440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6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Online search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9" name="Table 4"/>
          <p:cNvGraphicFramePr/>
          <p:nvPr/>
        </p:nvGraphicFramePr>
        <p:xfrm>
          <a:off x="660240" y="6470640"/>
          <a:ext cx="6451200" cy="2494080"/>
        </p:xfrm>
        <a:graphic>
          <a:graphicData uri="http://schemas.openxmlformats.org/drawingml/2006/table">
            <a:tbl>
              <a:tblPr rtl="0" firstCol="0" lastCol="0" firstRow="0" lastRow="0" bandRow="0" bandCol="0"/>
              <a:tblGrid>
                <a:gridCol w="3225600"/>
                <a:gridCol w="3225600"/>
              </a:tblGrid>
              <a:tr h="232200">
                <a:tc>
                  <a:txBody>
                    <a:bodyPr lIns="0" rIns="0" tIns="6120" bIns="0" anchor="t">
                      <a:noAutofit/>
                    </a:bodyPr>
                    <a:p>
                      <a:pPr marL="143244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1" lang="en-US" sz="650" spc="17" strike="noStrike" u="none">
                          <a:solidFill>
                            <a:srgbClr val="ffffff"/>
                          </a:solidFill>
                          <a:uFillTx/>
                          <a:latin typeface="Times New Roman"/>
                        </a:rPr>
                        <a:t>Concept</a:t>
                      </a:r>
                      <a:endParaRPr b="0" lang="en-US" sz="65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lIns="0" rIns="0" tIns="6120" bIns="0" anchor="t">
                      <a:noAutofit/>
                    </a:bodyPr>
                    <a:p>
                      <a:pPr marL="101988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1" lang="en-US" sz="650" spc="17" strike="noStrike" u="none">
                          <a:solidFill>
                            <a:srgbClr val="ffffff"/>
                          </a:solidFill>
                          <a:uFillTx/>
                          <a:latin typeface="Times New Roman"/>
                        </a:rPr>
                        <a:t>Application to rescue robot</a:t>
                      </a:r>
                      <a:endParaRPr b="0" lang="en-US" sz="65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</a:tr>
              <a:tr h="407520">
                <a:tc>
                  <a:txBody>
                    <a:bodyPr lIns="0" rIns="0" tIns="93960" bIns="0" anchor="t">
                      <a:noAutofit/>
                    </a:bodyPr>
                    <a:p>
                      <a:pPr marL="68760" defTabSz="91440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Intelligent agent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6120" bIns="0" anchor="t">
                      <a:noAutofit/>
                    </a:bodyPr>
                    <a:p>
                      <a:pPr marL="6876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Receives percepts through sensors and acts through movement controls to 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68760" defTabSz="914400">
                        <a:lnSpc>
                          <a:spcPts val="879"/>
                        </a:lnSpc>
                        <a:spcBef>
                          <a:spcPts val="490"/>
                        </a:spcBef>
                        <a:tabLst>
                          <a:tab algn="l" pos="0"/>
                        </a:tabLst>
                      </a:pPr>
                      <a:r>
                        <a:rPr b="0" lang="en-US" sz="65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reach the survivor.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11480">
                <a:tc>
                  <a:txBody>
                    <a:bodyPr lIns="0" rIns="0" tIns="92520" bIns="0" anchor="t">
                      <a:noAutofit/>
                    </a:bodyPr>
                    <a:p>
                      <a:pPr marL="6876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-11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Rationality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lIns="0" rIns="0" tIns="6120" bIns="0" anchor="t">
                      <a:noAutofit/>
                    </a:bodyPr>
                    <a:p>
                      <a:pPr marL="68760" defTabSz="91440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3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Chooses the action expected to achieve the goal with the lowest known cost 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68760" defTabSz="914400">
                        <a:lnSpc>
                          <a:spcPts val="879"/>
                        </a:lnSpc>
                        <a:spcBef>
                          <a:spcPts val="490"/>
                        </a:spcBef>
                        <a:tabLst>
                          <a:tab algn="l" pos="0"/>
                        </a:tabLst>
                      </a:pPr>
                      <a:r>
                        <a:rPr b="0" lang="en-US" sz="650" spc="3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while respecting safety and available information.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407520">
                <a:tc>
                  <a:txBody>
                    <a:bodyPr lIns="0" rIns="0" tIns="88560" bIns="0" anchor="t">
                      <a:noAutofit/>
                    </a:bodyPr>
                    <a:p>
                      <a:pPr marL="68760" defTabSz="91440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Partially observable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1080" bIns="0" anchor="t">
                      <a:noAutofit/>
                    </a:bodyPr>
                    <a:p>
                      <a:pPr marL="6876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3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The robot sees adjacent cells only; it cannot initially know the whole 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68760" defTabSz="914400">
                        <a:lnSpc>
                          <a:spcPts val="879"/>
                        </a:lnSpc>
                        <a:spcBef>
                          <a:spcPts val="490"/>
                        </a:spcBef>
                        <a:tabLst>
                          <a:tab algn="l" pos="0"/>
                        </a:tabLst>
                      </a:pPr>
                      <a:r>
                        <a:rPr b="0" lang="en-US" sz="650" spc="-3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building layout.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32200">
                <a:tc>
                  <a:txBody>
                    <a:bodyPr lIns="0" rIns="0" tIns="2520" bIns="0" anchor="t">
                      <a:noAutofit/>
                    </a:bodyPr>
                    <a:p>
                      <a:pPr marL="68760" defTabSz="91440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Sequential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lIns="0" rIns="0" tIns="2520" bIns="0" anchor="t">
                      <a:noAutofit/>
                    </a:bodyPr>
                    <a:p>
                      <a:pPr marL="68760" defTabSz="91440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Each movement affects later options and the final route cost.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407520">
                <a:tc>
                  <a:txBody>
                    <a:bodyPr lIns="0" rIns="0" tIns="88560" bIns="0" anchor="t">
                      <a:noAutofit/>
                    </a:bodyPr>
                    <a:p>
                      <a:pPr marL="6876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Stochastic / uncertain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2520" bIns="0" anchor="t">
                      <a:noAutofit/>
                    </a:bodyPr>
                    <a:p>
                      <a:pPr marL="68760" defTabSz="91440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Conditions may be unknown and observations can reveal unexpected 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68760" defTabSz="914400">
                        <a:lnSpc>
                          <a:spcPts val="879"/>
                        </a:lnSpc>
                        <a:spcBef>
                          <a:spcPts val="490"/>
                        </a:spcBef>
                        <a:tabLst>
                          <a:tab algn="l" pos="0"/>
                        </a:tabLst>
                      </a:pPr>
                      <a:r>
                        <a:rPr b="0" lang="en-US" sz="650" spc="-3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obstacles or hazards.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94920">
                <a:tc>
                  <a:txBody>
                    <a:bodyPr lIns="0" rIns="0" tIns="87480" bIns="0" anchor="t">
                      <a:noAutofit/>
                    </a:bodyPr>
                    <a:p>
                      <a:pPr marL="6876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3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Dynamic knowledge / online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lIns="0" rIns="0" tIns="1080" bIns="0" anchor="t">
                      <a:noAutofit/>
                    </a:bodyPr>
                    <a:p>
                      <a:pPr marL="6876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The internal map changes as the robot explores, so planning is repeated 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68760" defTabSz="914400">
                        <a:lnSpc>
                          <a:spcPts val="879"/>
                        </a:lnSpc>
                        <a:spcBef>
                          <a:spcPts val="490"/>
                        </a:spcBef>
                        <a:tabLst>
                          <a:tab algn="l" pos="0"/>
                        </a:tabLst>
                      </a:pPr>
                      <a:r>
                        <a:rPr b="0" lang="en-US" sz="650" spc="3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when needed.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</a:tbl>
          </a:graphicData>
        </a:graphic>
      </p:graphicFrame>
      <p:sp>
        <p:nvSpPr>
          <p:cNvPr id="30" name="TextBox 2"/>
          <p:cNvSpPr/>
          <p:nvPr/>
        </p:nvSpPr>
        <p:spPr>
          <a:xfrm>
            <a:off x="659160" y="596880"/>
            <a:ext cx="4508280" cy="347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ts val="1678"/>
              </a:lnSpc>
              <a:tabLst>
                <a:tab algn="l" pos="0"/>
              </a:tabLst>
            </a:pPr>
            <a:r>
              <a:rPr b="1" lang="en" sz="1500" spc="-3" strike="noStrike" u="none">
                <a:solidFill>
                  <a:srgbClr val="000000"/>
                </a:solidFill>
                <a:uFillTx/>
                <a:latin typeface="Times New Roman"/>
              </a:rPr>
              <a:t>3. Rescue Robot — Search Procedure and AI Concepts 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239"/>
              </a:lnSpc>
              <a:spcBef>
                <a:spcPts val="1879"/>
              </a:spcBef>
              <a:tabLst>
                <a:tab algn="l" pos="0"/>
              </a:tabLst>
            </a:pPr>
            <a:r>
              <a:rPr b="1" lang="en-US" sz="1100" spc="3" strike="noStrike" u="none">
                <a:solidFill>
                  <a:srgbClr val="000000"/>
                </a:solidFill>
                <a:uFillTx/>
                <a:latin typeface="Times New Roman"/>
              </a:rPr>
              <a:t>Online UCS procedure 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63800" defTabSz="914400">
              <a:lnSpc>
                <a:spcPts val="87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750" strike="noStrike" u="none">
                <a:solidFill>
                  <a:srgbClr val="000000"/>
                </a:solidFill>
                <a:uFillTx/>
                <a:latin typeface="Times New Roman"/>
              </a:rPr>
              <a:t>INITIALISE map with current cell S and unknown neighbouring cells </a:t>
            </a:r>
            <a:endParaRPr b="0" lang="en-US" sz="7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63800" defTabSz="914400">
              <a:lnSpc>
                <a:spcPts val="879"/>
              </a:lnSpc>
              <a:spcBef>
                <a:spcPts val="490"/>
              </a:spcBef>
              <a:tabLst>
                <a:tab algn="l" pos="0"/>
              </a:tabLst>
            </a:pPr>
            <a:r>
              <a:rPr b="0" lang="en-US" sz="750" strike="noStrike" u="none">
                <a:solidFill>
                  <a:srgbClr val="000000"/>
                </a:solidFill>
                <a:uFillTx/>
                <a:latin typeface="Times New Roman"/>
              </a:rPr>
              <a:t>WHILE survivor G has not been reached: </a:t>
            </a:r>
            <a:endParaRPr b="0" lang="en-US" sz="7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91880" defTabSz="914400">
              <a:lnSpc>
                <a:spcPts val="879"/>
              </a:lnSpc>
              <a:spcBef>
                <a:spcPts val="490"/>
              </a:spcBef>
              <a:tabLst>
                <a:tab algn="l" pos="0"/>
              </a:tabLst>
            </a:pPr>
            <a:r>
              <a:rPr b="0" lang="en-US" sz="750" spc="6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r>
              <a:rPr b="0" lang="en-US" sz="750" spc="6" strike="noStrike" u="none">
                <a:solidFill>
                  <a:srgbClr val="000000"/>
                </a:solidFill>
                <a:uFillTx/>
                <a:latin typeface="Times New Roman"/>
              </a:rPr>
              <a:t>observe adjacent cells </a:t>
            </a:r>
            <a:endParaRPr b="0" lang="en-US" sz="7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91880" defTabSz="914400">
              <a:lnSpc>
                <a:spcPts val="870"/>
              </a:lnSpc>
              <a:spcBef>
                <a:spcPts val="530"/>
              </a:spcBef>
              <a:tabLst>
                <a:tab algn="l" pos="0"/>
              </a:tabLst>
            </a:pPr>
            <a:r>
              <a:rPr b="0" lang="en-US" sz="75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r>
              <a:rPr b="0" lang="en-US" sz="750" strike="noStrike" u="none">
                <a:solidFill>
                  <a:srgbClr val="000000"/>
                </a:solidFill>
                <a:uFillTx/>
                <a:latin typeface="Times New Roman"/>
              </a:rPr>
              <a:t>update internal map: free, blocked, risky, or unknown </a:t>
            </a:r>
            <a:endParaRPr b="0" lang="en-US" sz="7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91880" defTabSz="914400">
              <a:lnSpc>
                <a:spcPts val="870"/>
              </a:lnSpc>
              <a:spcBef>
                <a:spcPts val="499"/>
              </a:spcBef>
              <a:tabLst>
                <a:tab algn="l" pos="0"/>
              </a:tabLst>
            </a:pPr>
            <a:r>
              <a:rPr b="0" lang="en-US" sz="75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r>
              <a:rPr b="0" lang="en-US" sz="750" strike="noStrike" u="none">
                <a:solidFill>
                  <a:srgbClr val="000000"/>
                </a:solidFill>
                <a:uFillTx/>
                <a:latin typeface="Times New Roman"/>
              </a:rPr>
              <a:t>construct graph from currently known safe/traversable cells </a:t>
            </a:r>
            <a:endParaRPr b="0" lang="en-US" sz="7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91880" defTabSz="914400">
              <a:lnSpc>
                <a:spcPts val="870"/>
              </a:lnSpc>
              <a:spcBef>
                <a:spcPts val="499"/>
              </a:spcBef>
              <a:tabLst>
                <a:tab algn="l" pos="0"/>
              </a:tabLst>
            </a:pPr>
            <a:r>
              <a:rPr b="0" lang="en-US" sz="75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r>
              <a:rPr b="0" lang="en-US" sz="750" strike="noStrike" u="none">
                <a:solidFill>
                  <a:srgbClr val="000000"/>
                </a:solidFill>
                <a:uFillTx/>
                <a:latin typeface="Times New Roman"/>
              </a:rPr>
              <a:t>run UCS from current position toward G using accumulated cost g(n) </a:t>
            </a:r>
            <a:endParaRPr b="0" lang="en-US" sz="7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91880" defTabSz="914400">
              <a:lnSpc>
                <a:spcPts val="879"/>
              </a:lnSpc>
              <a:spcBef>
                <a:spcPts val="530"/>
              </a:spcBef>
              <a:tabLst>
                <a:tab algn="l" pos="0"/>
              </a:tabLst>
            </a:pPr>
            <a:r>
              <a:rPr b="0" lang="en-US" sz="750" spc="-3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r>
              <a:rPr b="0" lang="en-US" sz="750" spc="-3" strike="noStrike" u="none">
                <a:solidFill>
                  <a:srgbClr val="000000"/>
                </a:solidFill>
                <a:uFillTx/>
                <a:latin typeface="Times New Roman"/>
              </a:rPr>
              <a:t>IF a route is known: </a:t>
            </a:r>
            <a:endParaRPr b="0" lang="en-US" sz="7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91960" defTabSz="914400">
              <a:lnSpc>
                <a:spcPts val="879"/>
              </a:lnSpc>
              <a:spcBef>
                <a:spcPts val="490"/>
              </a:spcBef>
              <a:tabLst>
                <a:tab algn="l" pos="0"/>
              </a:tabLst>
            </a:pPr>
            <a:r>
              <a:rPr b="0" lang="en-US" sz="750" spc="3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r>
              <a:rPr b="0" lang="en-US" sz="750" spc="3" strike="noStrike" u="none">
                <a:solidFill>
                  <a:srgbClr val="000000"/>
                </a:solidFill>
                <a:uFillTx/>
                <a:latin typeface="Times New Roman"/>
              </a:rPr>
              <a:t>execute the first safe move on the least-cost route </a:t>
            </a:r>
            <a:endParaRPr b="0" lang="en-US" sz="7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91880" defTabSz="914400">
              <a:lnSpc>
                <a:spcPts val="870"/>
              </a:lnSpc>
              <a:spcBef>
                <a:spcPts val="490"/>
              </a:spcBef>
              <a:tabLst>
                <a:tab algn="l" pos="0"/>
              </a:tabLst>
            </a:pPr>
            <a:r>
              <a:rPr b="0" lang="en-US" sz="75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r>
              <a:rPr b="0" lang="en-US" sz="750" strike="noStrike" u="none">
                <a:solidFill>
                  <a:srgbClr val="000000"/>
                </a:solidFill>
                <a:uFillTx/>
                <a:latin typeface="Times New Roman"/>
              </a:rPr>
              <a:t>ELSE: </a:t>
            </a:r>
            <a:endParaRPr b="0" lang="en-US" sz="7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91960" defTabSz="914400">
              <a:lnSpc>
                <a:spcPts val="879"/>
              </a:lnSpc>
              <a:spcBef>
                <a:spcPts val="530"/>
              </a:spcBef>
              <a:tabLst>
                <a:tab algn="l" pos="0"/>
              </a:tabLst>
            </a:pPr>
            <a:r>
              <a:rPr b="0" lang="en-US" sz="750" spc="6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r>
              <a:rPr b="0" lang="en-US" sz="750" spc="6" strike="noStrike" u="none">
                <a:solidFill>
                  <a:srgbClr val="000000"/>
                </a:solidFill>
                <a:uFillTx/>
                <a:latin typeface="Times New Roman"/>
              </a:rPr>
              <a:t>choose a safe frontier cell that may reveal new space </a:t>
            </a:r>
            <a:endParaRPr b="0" lang="en-US" sz="7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91880" defTabSz="914400">
              <a:lnSpc>
                <a:spcPts val="879"/>
              </a:lnSpc>
              <a:spcBef>
                <a:spcPts val="490"/>
              </a:spcBef>
              <a:tabLst>
                <a:tab algn="l" pos="0"/>
              </a:tabLst>
            </a:pPr>
            <a:r>
              <a:rPr b="0" lang="en-US" sz="750" spc="-3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r>
              <a:rPr b="0" lang="en-US" sz="750" spc="-3" strike="noStrike" u="none">
                <a:solidFill>
                  <a:srgbClr val="000000"/>
                </a:solidFill>
                <a:uFillTx/>
                <a:latin typeface="Times New Roman"/>
              </a:rPr>
              <a:t>update position and path cost </a:t>
            </a:r>
            <a:endParaRPr b="0" lang="en-US" sz="7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91880" defTabSz="914400">
              <a:lnSpc>
                <a:spcPts val="879"/>
              </a:lnSpc>
              <a:spcBef>
                <a:spcPts val="490"/>
              </a:spcBef>
              <a:tabLst>
                <a:tab algn="l" pos="0"/>
              </a:tabLst>
            </a:pPr>
            <a:r>
              <a:rPr b="0" lang="en-US" sz="75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r>
              <a:rPr b="0" lang="en-US" sz="750" strike="noStrike" u="none">
                <a:solidFill>
                  <a:srgbClr val="000000"/>
                </a:solidFill>
                <a:uFillTx/>
                <a:latin typeface="Times New Roman"/>
              </a:rPr>
              <a:t>IF new obstacle or risk information appears: </a:t>
            </a:r>
            <a:endParaRPr b="0" lang="en-US" sz="7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91960" defTabSz="914400">
              <a:lnSpc>
                <a:spcPts val="879"/>
              </a:lnSpc>
              <a:spcBef>
                <a:spcPts val="519"/>
              </a:spcBef>
              <a:tabLst>
                <a:tab algn="l" pos="0"/>
              </a:tabLst>
            </a:pPr>
            <a:r>
              <a:rPr b="0" lang="en-US" sz="750" spc="-3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r>
              <a:rPr b="0" lang="en-US" sz="750" spc="-3" strike="noStrike" u="none">
                <a:solidFill>
                  <a:srgbClr val="000000"/>
                </a:solidFill>
                <a:uFillTx/>
                <a:latin typeface="Times New Roman"/>
              </a:rPr>
              <a:t>update map and replan </a:t>
            </a:r>
            <a:endParaRPr b="0" lang="en-US" sz="7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63800" defTabSz="914400">
              <a:lnSpc>
                <a:spcPts val="879"/>
              </a:lnSpc>
              <a:spcBef>
                <a:spcPts val="490"/>
              </a:spcBef>
              <a:tabLst>
                <a:tab algn="l" pos="0"/>
              </a:tabLst>
            </a:pPr>
            <a:r>
              <a:rPr b="0" lang="en-US" sz="750" strike="noStrike" u="none">
                <a:solidFill>
                  <a:srgbClr val="000000"/>
                </a:solidFill>
                <a:uFillTx/>
                <a:latin typeface="Times New Roman"/>
              </a:rPr>
              <a:t>STOP when G is reached; report total cost and route</a:t>
            </a:r>
            <a:endParaRPr b="0" lang="en-US" sz="7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230"/>
              </a:lnSpc>
              <a:spcBef>
                <a:spcPts val="1500"/>
              </a:spcBef>
              <a:tabLst>
                <a:tab algn="l" pos="0"/>
              </a:tabLst>
            </a:pPr>
            <a:r>
              <a:rPr b="1" lang="en-US" sz="1100" spc="-6" strike="noStrike" u="none">
                <a:solidFill>
                  <a:srgbClr val="000000"/>
                </a:solidFill>
                <a:uFillTx/>
                <a:latin typeface="Times New Roman"/>
              </a:rPr>
              <a:t>Decision cycle 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" name="TextBox 5"/>
          <p:cNvSpPr/>
          <p:nvPr/>
        </p:nvSpPr>
        <p:spPr>
          <a:xfrm>
            <a:off x="659160" y="6226920"/>
            <a:ext cx="3250800" cy="15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ts val="1239"/>
              </a:lnSpc>
              <a:tabLst>
                <a:tab algn="l" pos="0"/>
              </a:tabLst>
            </a:pPr>
            <a:r>
              <a:rPr b="1" lang="en" sz="1100" spc="3" strike="noStrike" u="none">
                <a:solidFill>
                  <a:srgbClr val="000000"/>
                </a:solidFill>
                <a:uFillTx/>
                <a:latin typeface="Times New Roman"/>
              </a:rPr>
              <a:t>c) Intelligent agents, rationality and environment type 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" name="Table 3"/>
          <p:cNvGraphicFramePr/>
          <p:nvPr/>
        </p:nvGraphicFramePr>
        <p:xfrm>
          <a:off x="660240" y="3726360"/>
          <a:ext cx="6451200" cy="919080"/>
        </p:xfrm>
        <a:graphic>
          <a:graphicData uri="http://schemas.openxmlformats.org/drawingml/2006/table">
            <a:tbl>
              <a:tblPr rtl="0" firstCol="0" lastCol="0" firstRow="0" lastRow="0" bandRow="0" bandCol="0"/>
              <a:tblGrid>
                <a:gridCol w="1610280"/>
                <a:gridCol w="1615320"/>
                <a:gridCol w="1613880"/>
                <a:gridCol w="1611360"/>
              </a:tblGrid>
              <a:tr h="232200">
                <a:tc>
                  <a:txBody>
                    <a:bodyPr lIns="0" rIns="0" tIns="6120" bIns="0" anchor="t">
                      <a:noAutofit/>
                    </a:bodyPr>
                    <a:p>
                      <a:pPr marL="45324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1" lang="en-US" sz="650" spc="17" strike="noStrike" u="none">
                          <a:solidFill>
                            <a:srgbClr val="ffffff"/>
                          </a:solidFill>
                          <a:uFillTx/>
                          <a:latin typeface="Times New Roman"/>
                        </a:rPr>
                        <a:t>Candidate route</a:t>
                      </a:r>
                      <a:endParaRPr b="0" lang="en-US" sz="65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lIns="0" rIns="0" tIns="6120" bIns="0" anchor="t">
                      <a:noAutofit/>
                    </a:bodyPr>
                    <a:p>
                      <a:pPr marL="66420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1" lang="en-US" sz="650" spc="17" strike="noStrike" u="none">
                          <a:solidFill>
                            <a:srgbClr val="ffffff"/>
                          </a:solidFill>
                          <a:uFillTx/>
                          <a:latin typeface="Times New Roman"/>
                        </a:rPr>
                        <a:t>Moves</a:t>
                      </a:r>
                      <a:endParaRPr b="0" lang="en-US" sz="65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lIns="0" rIns="0" tIns="6120" bIns="0" anchor="t">
                      <a:noAutofit/>
                    </a:bodyPr>
                    <a:p>
                      <a:pPr marL="39744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1" lang="en-US" sz="650" spc="17" strike="noStrike" u="none">
                          <a:solidFill>
                            <a:srgbClr val="ffffff"/>
                          </a:solidFill>
                          <a:uFillTx/>
                          <a:latin typeface="Times New Roman"/>
                        </a:rPr>
                        <a:t>Risky cells entered</a:t>
                      </a:r>
                      <a:endParaRPr b="0" lang="en-US" sz="65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lIns="0" rIns="0" tIns="6120" bIns="0" anchor="t">
                      <a:noAutofit/>
                    </a:bodyPr>
                    <a:p>
                      <a:pPr marL="59688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1" lang="en-US" sz="650" spc="17" strike="noStrike" u="none">
                          <a:solidFill>
                            <a:srgbClr val="ffffff"/>
                          </a:solidFill>
                          <a:uFillTx/>
                          <a:latin typeface="Times New Roman"/>
                        </a:rPr>
                        <a:t>Total cost</a:t>
                      </a:r>
                      <a:endParaRPr b="0" lang="en-US" sz="65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</a:tr>
              <a:tr h="233640">
                <a:tc>
                  <a:txBody>
                    <a:bodyPr lIns="0" rIns="0" tIns="1080" bIns="0" anchor="t">
                      <a:noAutofit/>
                    </a:bodyPr>
                    <a:p>
                      <a:pPr marL="6876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Route A: shorter but crosses risk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1080" bIns="0" anchor="t">
                      <a:noAutofit/>
                    </a:bodyPr>
                    <a:p>
                      <a:pPr marL="6876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17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5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1080" bIns="0" anchor="t">
                      <a:noAutofit/>
                    </a:bodyPr>
                    <a:p>
                      <a:pPr marL="6876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17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2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1080" bIns="0" anchor="t">
                      <a:noAutofit/>
                    </a:bodyPr>
                    <a:p>
                      <a:pPr marL="6984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3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5 + (2 × 2) = 9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33640">
                <a:tc>
                  <a:txBody>
                    <a:bodyPr lIns="0" rIns="0" tIns="1080" bIns="0" anchor="t">
                      <a:noAutofit/>
                    </a:bodyPr>
                    <a:p>
                      <a:pPr marL="6876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Route B: longer, avoids risk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lIns="0" rIns="0" tIns="1080" bIns="0" anchor="t">
                      <a:noAutofit/>
                    </a:bodyPr>
                    <a:p>
                      <a:pPr marL="6876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17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8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lIns="0" rIns="0" tIns="1080" bIns="0" anchor="t">
                      <a:noAutofit/>
                    </a:bodyPr>
                    <a:p>
                      <a:pPr marL="6876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17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0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lIns="0" rIns="0" tIns="1080" bIns="0" anchor="t">
                      <a:noAutofit/>
                    </a:bodyPr>
                    <a:p>
                      <a:pPr marL="6984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3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8 + (0 × 2) = 8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219600">
                <a:tc>
                  <a:txBody>
                    <a:bodyPr lIns="0" rIns="0" tIns="2520" bIns="0" anchor="t">
                      <a:noAutofit/>
                    </a:bodyPr>
                    <a:p>
                      <a:pPr marL="6876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3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Route C: longer with one risky cell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2520" bIns="0" anchor="t">
                      <a:noAutofit/>
                    </a:bodyPr>
                    <a:p>
                      <a:pPr marL="6876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17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7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2520" bIns="0" anchor="t">
                      <a:noAutofit/>
                    </a:bodyPr>
                    <a:p>
                      <a:pPr marL="6876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17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1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2520" bIns="0" anchor="t">
                      <a:noAutofit/>
                    </a:bodyPr>
                    <a:p>
                      <a:pPr marL="6984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3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7 + (1 × 2) = 9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3" name="TextBox 2"/>
          <p:cNvSpPr/>
          <p:nvPr/>
        </p:nvSpPr>
        <p:spPr>
          <a:xfrm>
            <a:off x="659160" y="596880"/>
            <a:ext cx="490068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ts val="1678"/>
              </a:lnSpc>
              <a:tabLst>
                <a:tab algn="l" pos="0"/>
              </a:tabLst>
            </a:pPr>
            <a:r>
              <a:rPr b="1" lang="en" sz="1500" spc="-3" strike="noStrike" u="none">
                <a:solidFill>
                  <a:srgbClr val="000000"/>
                </a:solidFill>
                <a:uFillTx/>
                <a:latin typeface="Times New Roman"/>
              </a:rPr>
              <a:t>3. Rescue Robot — Justification and Worked Cost Example 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239"/>
              </a:lnSpc>
              <a:spcBef>
                <a:spcPts val="1879"/>
              </a:spcBef>
              <a:tabLst>
                <a:tab algn="l" pos="0"/>
              </a:tabLst>
            </a:pPr>
            <a:r>
              <a:rPr b="1" lang="en-US" sz="1100" strike="noStrike" u="none">
                <a:solidFill>
                  <a:srgbClr val="000000"/>
                </a:solidFill>
                <a:uFillTx/>
                <a:latin typeface="Times New Roman"/>
              </a:rPr>
              <a:t>d) Why online search with UCS is suitable 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" name="TextBox 4"/>
          <p:cNvSpPr/>
          <p:nvPr/>
        </p:nvSpPr>
        <p:spPr>
          <a:xfrm>
            <a:off x="659160" y="1289160"/>
            <a:ext cx="51840" cy="34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000000"/>
                </a:solidFill>
                <a:uFillTx/>
                <a:latin typeface="Symbol"/>
              </a:rPr>
              <a:t>•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100"/>
              </a:lnSpc>
              <a:spcBef>
                <a:spcPts val="519"/>
              </a:spcBef>
              <a:tabLst>
                <a:tab algn="l" pos="0"/>
              </a:tabLst>
            </a:pPr>
            <a:r>
              <a:rPr b="0" lang="en-US" sz="900" strike="noStrike" u="none">
                <a:solidFill>
                  <a:srgbClr val="000000"/>
                </a:solidFill>
                <a:uFillTx/>
                <a:latin typeface="Symbol"/>
              </a:rPr>
              <a:t>•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" name="TextBox 5"/>
          <p:cNvSpPr/>
          <p:nvPr/>
        </p:nvSpPr>
        <p:spPr>
          <a:xfrm>
            <a:off x="887760" y="1303200"/>
            <a:ext cx="6225120" cy="3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ts val="989"/>
              </a:lnSpc>
              <a:tabLst>
                <a:tab algn="l" pos="0"/>
              </a:tabLst>
            </a:pPr>
            <a:r>
              <a:rPr b="0" lang="en" sz="900" spc="-23" strike="noStrike" u="none">
                <a:solidFill>
                  <a:srgbClr val="000000"/>
                </a:solidFill>
                <a:uFillTx/>
                <a:latin typeface="Times New Roman"/>
              </a:rPr>
              <a:t>Partial observability: the robot can plan only from currently available information, then update its map after sensing adjacent cells. 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989"/>
              </a:lnSpc>
              <a:spcBef>
                <a:spcPts val="629"/>
              </a:spcBef>
              <a:tabLst>
                <a:tab algn="l" pos="0"/>
              </a:tabLst>
            </a:pPr>
            <a:r>
              <a:rPr b="0" lang="en-US" sz="900" spc="-23" strike="noStrike" u="none">
                <a:solidFill>
                  <a:srgbClr val="000000"/>
                </a:solidFill>
                <a:uFillTx/>
                <a:latin typeface="Times New Roman"/>
              </a:rPr>
              <a:t>Different route costs: a normal move costs 1, while entering a risky zone costs 3 in total. UCS handles non-negative, non-uniform costs 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" name="TextBox 6"/>
          <p:cNvSpPr/>
          <p:nvPr/>
        </p:nvSpPr>
        <p:spPr>
          <a:xfrm>
            <a:off x="887760" y="1705680"/>
            <a:ext cx="5969880" cy="52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ts val="989"/>
              </a:lnSpc>
              <a:tabLst>
                <a:tab algn="l" pos="0"/>
              </a:tabLst>
            </a:pPr>
            <a:r>
              <a:rPr b="0" lang="en" sz="900" spc="-11" strike="noStrike" u="none">
                <a:solidFill>
                  <a:srgbClr val="000000"/>
                </a:solidFill>
                <a:uFillTx/>
                <a:latin typeface="Times New Roman"/>
              </a:rPr>
              <a:t>directly. 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989"/>
              </a:lnSpc>
              <a:spcBef>
                <a:spcPts val="629"/>
              </a:spcBef>
              <a:tabLst>
                <a:tab algn="l" pos="0"/>
              </a:tabLst>
            </a:pPr>
            <a:r>
              <a:rPr b="0" lang="en-US" sz="900" spc="-23" strike="noStrike" u="none">
                <a:solidFill>
                  <a:srgbClr val="000000"/>
                </a:solidFill>
                <a:uFillTx/>
                <a:latin typeface="Times New Roman"/>
              </a:rPr>
              <a:t>Safety-aware choices: risky cells can be represented with larger transition costs, discouraging them when a safer, lower-cost route 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001"/>
              </a:lnSpc>
              <a:spcBef>
                <a:spcPts val="550"/>
              </a:spcBef>
              <a:tabLst>
                <a:tab algn="l" pos="0"/>
              </a:tabLst>
            </a:pPr>
            <a:r>
              <a:rPr b="0" lang="en-US" sz="900" spc="-6" strike="noStrike" u="none">
                <a:solidFill>
                  <a:srgbClr val="000000"/>
                </a:solidFill>
                <a:uFillTx/>
                <a:latin typeface="Times New Roman"/>
              </a:rPr>
              <a:t>exists. 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7" name="TextBox 7"/>
          <p:cNvSpPr/>
          <p:nvPr/>
        </p:nvSpPr>
        <p:spPr>
          <a:xfrm>
            <a:off x="659160" y="2300040"/>
            <a:ext cx="51840" cy="34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000000"/>
                </a:solidFill>
                <a:uFillTx/>
                <a:latin typeface="Symbol"/>
              </a:rPr>
              <a:t>•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100"/>
              </a:lnSpc>
              <a:spcBef>
                <a:spcPts val="519"/>
              </a:spcBef>
              <a:tabLst>
                <a:tab algn="l" pos="0"/>
              </a:tabLst>
            </a:pPr>
            <a:r>
              <a:rPr b="0" lang="en-US" sz="900" strike="noStrike" u="none">
                <a:solidFill>
                  <a:srgbClr val="000000"/>
                </a:solidFill>
                <a:uFillTx/>
                <a:latin typeface="Symbol"/>
              </a:rPr>
              <a:t>•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8" name="TextBox 8"/>
          <p:cNvSpPr/>
          <p:nvPr/>
        </p:nvSpPr>
        <p:spPr>
          <a:xfrm>
            <a:off x="887760" y="2314080"/>
            <a:ext cx="6222600" cy="3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ts val="989"/>
              </a:lnSpc>
              <a:tabLst>
                <a:tab algn="l" pos="0"/>
              </a:tabLst>
            </a:pPr>
            <a:r>
              <a:rPr b="0" lang="en" sz="900" spc="-23" strike="noStrike" u="none">
                <a:solidFill>
                  <a:srgbClr val="000000"/>
                </a:solidFill>
                <a:uFillTx/>
                <a:latin typeface="Times New Roman"/>
              </a:rPr>
              <a:t>Replanning: when a blocked cell or risk zone is discovered, the robot updates the graph and searches again. 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989"/>
              </a:lnSpc>
              <a:spcBef>
                <a:spcPts val="629"/>
              </a:spcBef>
              <a:tabLst>
                <a:tab algn="l" pos="0"/>
              </a:tabLst>
            </a:pPr>
            <a:r>
              <a:rPr b="0" lang="en-US" sz="900" spc="-23" strike="noStrike" u="none">
                <a:solidFill>
                  <a:srgbClr val="000000"/>
                </a:solidFill>
                <a:uFillTx/>
                <a:latin typeface="Times New Roman"/>
              </a:rPr>
              <a:t>Optimality on the known graph: with non-negative edge costs, UCS finds a least-cost path to the goal in the graph it currently knows. It 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" name="TextBox 9"/>
          <p:cNvSpPr/>
          <p:nvPr/>
        </p:nvSpPr>
        <p:spPr>
          <a:xfrm>
            <a:off x="659160" y="2715120"/>
            <a:ext cx="5969880" cy="89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marL="228600" defTabSz="914400">
              <a:lnSpc>
                <a:spcPts val="1001"/>
              </a:lnSpc>
              <a:tabLst>
                <a:tab algn="l" pos="0"/>
              </a:tabLst>
            </a:pPr>
            <a:r>
              <a:rPr b="0" lang="en" sz="900" spc="-23" strike="noStrike" u="none">
                <a:solidFill>
                  <a:srgbClr val="000000"/>
                </a:solidFill>
                <a:uFillTx/>
                <a:latin typeface="Times New Roman"/>
              </a:rPr>
              <a:t>cannot guarantee a globally optimal real-world route if important parts of the map remain unknown. 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239"/>
              </a:lnSpc>
              <a:spcBef>
                <a:spcPts val="1511"/>
              </a:spcBef>
              <a:tabLst>
                <a:tab algn="l" pos="0"/>
              </a:tabLst>
            </a:pPr>
            <a:r>
              <a:rPr b="1" lang="en-US" sz="1100" spc="3" strike="noStrike" u="none">
                <a:solidFill>
                  <a:srgbClr val="000000"/>
                </a:solidFill>
                <a:uFillTx/>
                <a:latin typeface="Times New Roman"/>
              </a:rPr>
              <a:t>Illustrative route-cost comparison 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001"/>
              </a:lnSpc>
              <a:spcBef>
                <a:spcPts val="720"/>
              </a:spcBef>
              <a:tabLst>
                <a:tab algn="l" pos="0"/>
              </a:tabLst>
            </a:pPr>
            <a:r>
              <a:rPr b="0" lang="en-US" sz="900" spc="-23" strike="noStrike" u="none">
                <a:solidFill>
                  <a:srgbClr val="000000"/>
                </a:solidFill>
                <a:uFillTx/>
                <a:latin typeface="Times New Roman"/>
              </a:rPr>
              <a:t>The source question does not provide a specific rescue grid or mark which cells are risky. The table below is a generic example to 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001"/>
              </a:lnSpc>
              <a:spcBef>
                <a:spcPts val="550"/>
              </a:spcBef>
              <a:tabLst>
                <a:tab algn="l" pos="0"/>
              </a:tabLst>
            </a:pPr>
            <a:r>
              <a:rPr b="0" lang="en-US" sz="900" spc="-23" strike="noStrike" u="none">
                <a:solidFill>
                  <a:srgbClr val="000000"/>
                </a:solidFill>
                <a:uFillTx/>
                <a:latin typeface="Times New Roman"/>
              </a:rPr>
              <a:t>demonstrate the cost rule, not a claimed solution for an unspecified map. 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0" name="TextBox 10"/>
          <p:cNvSpPr/>
          <p:nvPr/>
        </p:nvSpPr>
        <p:spPr>
          <a:xfrm>
            <a:off x="659160" y="4911120"/>
            <a:ext cx="6383880" cy="67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0" lang="en" sz="900" spc="-23" strike="noStrike" u="none">
                <a:solidFill>
                  <a:srgbClr val="000000"/>
                </a:solidFill>
                <a:uFillTx/>
                <a:latin typeface="Times New Roman"/>
              </a:rPr>
              <a:t>In this example, Route B is preferred because its total cost is 8, lower than the other candidate routes, even though it uses more moves than 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001"/>
              </a:lnSpc>
              <a:spcBef>
                <a:spcPts val="550"/>
              </a:spcBef>
              <a:tabLst>
                <a:tab algn="l" pos="0"/>
              </a:tabLst>
            </a:pPr>
            <a:r>
              <a:rPr b="0" lang="en-US" sz="900" spc="-23" strike="noStrike" u="none">
                <a:solidFill>
                  <a:srgbClr val="000000"/>
                </a:solidFill>
                <a:uFillTx/>
                <a:latin typeface="Times New Roman"/>
              </a:rPr>
              <a:t>Route A. This demonstrates why distance alone is not enough when risk has an additional penalty. 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239"/>
              </a:lnSpc>
              <a:spcBef>
                <a:spcPts val="1511"/>
              </a:spcBef>
              <a:tabLst>
                <a:tab algn="l" pos="0"/>
              </a:tabLst>
            </a:pPr>
            <a:r>
              <a:rPr b="1" lang="en-US" sz="1100" strike="noStrike" u="none">
                <a:solidFill>
                  <a:srgbClr val="000000"/>
                </a:solidFill>
                <a:uFillTx/>
                <a:latin typeface="Times New Roman"/>
              </a:rPr>
              <a:t>Implementation considerations 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1" name="TextBox 11"/>
          <p:cNvSpPr/>
          <p:nvPr/>
        </p:nvSpPr>
        <p:spPr>
          <a:xfrm>
            <a:off x="659160" y="5671800"/>
            <a:ext cx="51840" cy="95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ts val="110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000000"/>
                </a:solidFill>
                <a:uFillTx/>
                <a:latin typeface="Symbol"/>
              </a:rPr>
              <a:t>•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100"/>
              </a:lnSpc>
              <a:spcBef>
                <a:spcPts val="519"/>
              </a:spcBef>
              <a:tabLst>
                <a:tab algn="l" pos="0"/>
              </a:tabLst>
            </a:pPr>
            <a:r>
              <a:rPr b="0" lang="en-US" sz="900" strike="noStrike" u="none">
                <a:solidFill>
                  <a:srgbClr val="000000"/>
                </a:solidFill>
                <a:uFillTx/>
                <a:latin typeface="Symbol"/>
              </a:rPr>
              <a:t>•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100"/>
              </a:lnSpc>
              <a:spcBef>
                <a:spcPts val="519"/>
              </a:spcBef>
              <a:tabLst>
                <a:tab algn="l" pos="0"/>
              </a:tabLst>
            </a:pPr>
            <a:r>
              <a:rPr b="0" lang="en-US" sz="900" strike="noStrike" u="none">
                <a:solidFill>
                  <a:srgbClr val="000000"/>
                </a:solidFill>
                <a:uFillTx/>
                <a:latin typeface="Symbol"/>
              </a:rPr>
              <a:t>•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100"/>
              </a:lnSpc>
              <a:spcBef>
                <a:spcPts val="519"/>
              </a:spcBef>
              <a:tabLst>
                <a:tab algn="l" pos="0"/>
              </a:tabLst>
            </a:pPr>
            <a:r>
              <a:rPr b="0" lang="en-US" sz="900" strike="noStrike" u="none">
                <a:solidFill>
                  <a:srgbClr val="000000"/>
                </a:solidFill>
                <a:uFillTx/>
                <a:latin typeface="Symbol"/>
              </a:rPr>
              <a:t>•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100"/>
              </a:lnSpc>
              <a:spcBef>
                <a:spcPts val="479"/>
              </a:spcBef>
              <a:tabLst>
                <a:tab algn="l" pos="0"/>
              </a:tabLst>
            </a:pPr>
            <a:r>
              <a:rPr b="0" lang="en-US" sz="900" strike="noStrike" u="none">
                <a:solidFill>
                  <a:srgbClr val="000000"/>
                </a:solidFill>
                <a:uFillTx/>
                <a:latin typeface="Symbol"/>
              </a:rPr>
              <a:t>•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2" name="TextBox 12"/>
          <p:cNvSpPr/>
          <p:nvPr/>
        </p:nvSpPr>
        <p:spPr>
          <a:xfrm>
            <a:off x="887760" y="5684400"/>
            <a:ext cx="3842640" cy="94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ts val="1001"/>
              </a:lnSpc>
              <a:tabLst>
                <a:tab algn="l" pos="0"/>
              </a:tabLst>
            </a:pPr>
            <a:r>
              <a:rPr b="0" lang="en" sz="900" spc="-23" strike="noStrike" u="none">
                <a:solidFill>
                  <a:srgbClr val="000000"/>
                </a:solidFill>
                <a:uFillTx/>
                <a:latin typeface="Times New Roman"/>
              </a:rPr>
              <a:t>Maintain a map with cell status: unknown, free, blocked or risky. 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001"/>
              </a:lnSpc>
              <a:spcBef>
                <a:spcPts val="618"/>
              </a:spcBef>
              <a:tabLst>
                <a:tab algn="l" pos="0"/>
              </a:tabLst>
            </a:pPr>
            <a:r>
              <a:rPr b="0" lang="en-US" sz="900" spc="-23" strike="noStrike" u="none">
                <a:solidFill>
                  <a:srgbClr val="000000"/>
                </a:solidFill>
                <a:uFillTx/>
                <a:latin typeface="Times New Roman"/>
              </a:rPr>
              <a:t>Do not treat unknown cells as confirmed safe; sense before entering when possible. 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001"/>
              </a:lnSpc>
              <a:spcBef>
                <a:spcPts val="618"/>
              </a:spcBef>
              <a:tabLst>
                <a:tab algn="l" pos="0"/>
              </a:tabLst>
            </a:pPr>
            <a:r>
              <a:rPr b="0" lang="en-US" sz="900" spc="-23" strike="noStrike" u="none">
                <a:solidFill>
                  <a:srgbClr val="000000"/>
                </a:solidFill>
                <a:uFillTx/>
                <a:latin typeface="Times New Roman"/>
              </a:rPr>
              <a:t>Track accumulated path cost separately from Manhattan distance. 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001"/>
              </a:lnSpc>
              <a:spcBef>
                <a:spcPts val="618"/>
              </a:spcBef>
              <a:tabLst>
                <a:tab algn="l" pos="0"/>
              </a:tabLst>
            </a:pPr>
            <a:r>
              <a:rPr b="0" lang="en-US" sz="900" spc="-23" strike="noStrike" u="none">
                <a:solidFill>
                  <a:srgbClr val="000000"/>
                </a:solidFill>
                <a:uFillTx/>
                <a:latin typeface="Times New Roman"/>
              </a:rPr>
              <a:t>Replan after new obstacle information or a change in risk assessment. 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989"/>
              </a:lnSpc>
              <a:spcBef>
                <a:spcPts val="590"/>
              </a:spcBef>
              <a:tabLst>
                <a:tab algn="l" pos="0"/>
              </a:tabLst>
            </a:pPr>
            <a:r>
              <a:rPr b="0" lang="en-US" sz="900" spc="-23" strike="noStrike" u="none">
                <a:solidFill>
                  <a:srgbClr val="000000"/>
                </a:solidFill>
                <a:uFillTx/>
                <a:latin typeface="Times New Roman"/>
              </a:rPr>
              <a:t>Stop and request assistance if no safe reachable frontier remains. 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3" name="Table 3"/>
          <p:cNvGraphicFramePr/>
          <p:nvPr/>
        </p:nvGraphicFramePr>
        <p:xfrm>
          <a:off x="660240" y="1292760"/>
          <a:ext cx="6451200" cy="1458720"/>
        </p:xfrm>
        <a:graphic>
          <a:graphicData uri="http://schemas.openxmlformats.org/drawingml/2006/table">
            <a:tbl>
              <a:tblPr rtl="0" firstCol="0" lastCol="0" firstRow="0" lastRow="0" bandRow="0" bandCol="0"/>
              <a:tblGrid>
                <a:gridCol w="2149920"/>
                <a:gridCol w="2149920"/>
                <a:gridCol w="2151360"/>
              </a:tblGrid>
              <a:tr h="232200">
                <a:tc>
                  <a:txBody>
                    <a:bodyPr lIns="0" rIns="0" tIns="5040" bIns="0" anchor="t">
                      <a:noAutofit/>
                    </a:bodyPr>
                    <a:p>
                      <a:pPr marL="87876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1" lang="en-US" sz="650" spc="17" strike="noStrike" u="none">
                          <a:solidFill>
                            <a:srgbClr val="ffffff"/>
                          </a:solidFill>
                          <a:uFillTx/>
                          <a:latin typeface="Times New Roman"/>
                        </a:rPr>
                        <a:t>Question</a:t>
                      </a:r>
                      <a:endParaRPr b="0" lang="en-US" sz="65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lIns="0" rIns="0" tIns="5040" bIns="0" anchor="t">
                      <a:noAutofit/>
                    </a:bodyPr>
                    <a:p>
                      <a:pPr marL="78228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1" lang="en-US" sz="650" spc="17" strike="noStrike" u="none">
                          <a:solidFill>
                            <a:srgbClr val="ffffff"/>
                          </a:solidFill>
                          <a:uFillTx/>
                          <a:latin typeface="Times New Roman"/>
                        </a:rPr>
                        <a:t>Main method</a:t>
                      </a:r>
                      <a:endParaRPr b="0" lang="en-US" sz="65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lIns="0" rIns="0" tIns="5040" bIns="0" anchor="t">
                      <a:noAutofit/>
                    </a:bodyPr>
                    <a:p>
                      <a:pPr marL="85212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1" lang="en-US" sz="650" spc="17" strike="noStrike" u="none">
                          <a:solidFill>
                            <a:srgbClr val="ffffff"/>
                          </a:solidFill>
                          <a:uFillTx/>
                          <a:latin typeface="Times New Roman"/>
                        </a:rPr>
                        <a:t>Key result</a:t>
                      </a:r>
                      <a:endParaRPr b="0" lang="en-US" sz="65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</a:tr>
              <a:tr h="233640">
                <a:tc>
                  <a:txBody>
                    <a:bodyPr lIns="0" rIns="0" tIns="6120" bIns="0" anchor="t">
                      <a:noAutofit/>
                    </a:bodyPr>
                    <a:p>
                      <a:pPr marL="6876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-3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1. Doctor shifts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6120" bIns="0" anchor="t">
                      <a:noAutofit/>
                    </a:bodyPr>
                    <a:p>
                      <a:pPr marL="6876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-3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Constraint satisfaction + backtracking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6120" bIns="0" anchor="t">
                      <a:noAutofit/>
                    </a:bodyPr>
                    <a:p>
                      <a:pPr marL="6876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D2—Morning, D1—Afternoon, D3—Night.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06080">
                <a:tc>
                  <a:txBody>
                    <a:bodyPr lIns="0" rIns="0" tIns="92520" bIns="0" anchor="t">
                      <a:noAutofit/>
                    </a:bodyPr>
                    <a:p>
                      <a:pPr marL="6876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-3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2. 5×5 robot grid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lIns="0" rIns="0" tIns="92520" bIns="0" anchor="t">
                      <a:noAutofit/>
                    </a:bodyPr>
                    <a:p>
                      <a:pPr marL="6876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-3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Breadth-First Search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lIns="0" rIns="0" tIns="1080" bIns="0" anchor="t">
                      <a:noAutofit/>
                    </a:bodyPr>
                    <a:p>
                      <a:pPr marL="6876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3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Illustrative grid yields an 8-move shortest path; 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68760" defTabSz="914400">
                        <a:lnSpc>
                          <a:spcPts val="870"/>
                        </a:lnSpc>
                        <a:spcBef>
                          <a:spcPts val="530"/>
                        </a:spcBef>
                        <a:tabLst>
                          <a:tab algn="l" pos="0"/>
                        </a:tabLst>
                      </a:pPr>
                      <a:r>
                        <a:rPr b="0" lang="en-US" sz="65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exact answer depends on obstacle layout.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586440">
                <a:tc>
                  <a:txBody>
                    <a:bodyPr lIns="0" rIns="0" tIns="180000" bIns="0" anchor="t">
                      <a:noAutofit/>
                    </a:bodyPr>
                    <a:p>
                      <a:pPr marL="6876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3. Rescue robot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180000" bIns="0" anchor="t">
                      <a:noAutofit/>
                    </a:bodyPr>
                    <a:p>
                      <a:pPr marL="6876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Online search agent + UCS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6120" bIns="0" anchor="t">
                      <a:noAutofit/>
                    </a:bodyPr>
                    <a:p>
                      <a:pPr marL="6876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3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Minimizes accumulated movement and risk costs 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68760" defTabSz="914400">
                        <a:lnSpc>
                          <a:spcPts val="879"/>
                        </a:lnSpc>
                        <a:spcBef>
                          <a:spcPts val="490"/>
                        </a:spcBef>
                        <a:tabLst>
                          <a:tab algn="l" pos="0"/>
                        </a:tabLst>
                      </a:pPr>
                      <a:r>
                        <a:rPr b="0" lang="en-US" sz="650" spc="-3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on the known map, replanning as information 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68760" defTabSz="914400">
                        <a:lnSpc>
                          <a:spcPts val="879"/>
                        </a:lnSpc>
                        <a:spcBef>
                          <a:spcPts val="490"/>
                        </a:spcBef>
                        <a:tabLst>
                          <a:tab algn="l" pos="0"/>
                        </a:tabLst>
                      </a:pPr>
                      <a:r>
                        <a:rPr b="0" lang="en-US" sz="650" spc="3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changes.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44" name="Table 4"/>
          <p:cNvGraphicFramePr/>
          <p:nvPr/>
        </p:nvGraphicFramePr>
        <p:xfrm>
          <a:off x="660240" y="4718160"/>
          <a:ext cx="6451200" cy="2082600"/>
        </p:xfrm>
        <a:graphic>
          <a:graphicData uri="http://schemas.openxmlformats.org/drawingml/2006/table">
            <a:tbl>
              <a:tblPr rtl="0" firstCol="0" lastCol="0" firstRow="0" lastRow="0" bandRow="0" bandCol="0"/>
              <a:tblGrid>
                <a:gridCol w="2149920"/>
                <a:gridCol w="2149920"/>
                <a:gridCol w="2151360"/>
              </a:tblGrid>
              <a:tr h="233640">
                <a:tc>
                  <a:txBody>
                    <a:bodyPr lIns="0" rIns="0" tIns="1080" bIns="0" anchor="t">
                      <a:noAutofit/>
                    </a:bodyPr>
                    <a:p>
                      <a:pPr marL="87012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1" lang="en-US" sz="650" spc="17" strike="noStrike" u="none">
                          <a:solidFill>
                            <a:srgbClr val="ffffff"/>
                          </a:solidFill>
                          <a:uFillTx/>
                          <a:latin typeface="Times New Roman"/>
                        </a:rPr>
                        <a:t>Criterion</a:t>
                      </a:r>
                      <a:endParaRPr b="0" lang="en-US" sz="65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lIns="0" rIns="0" tIns="1080" bIns="0" anchor="t">
                      <a:noAutofit/>
                    </a:bodyPr>
                    <a:p>
                      <a:pPr marL="84204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1" lang="en-US" sz="650" spc="17" strike="noStrike" u="none">
                          <a:solidFill>
                            <a:srgbClr val="ffffff"/>
                          </a:solidFill>
                          <a:uFillTx/>
                          <a:latin typeface="Times New Roman"/>
                        </a:rPr>
                        <a:t>Weightage</a:t>
                      </a:r>
                      <a:endParaRPr b="0" lang="en-US" sz="65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lIns="0" rIns="0" tIns="1080" bIns="0" anchor="t">
                      <a:noAutofit/>
                    </a:bodyPr>
                    <a:p>
                      <a:pPr marL="25668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1" lang="en-US" sz="650" spc="17" strike="noStrike" u="none">
                          <a:solidFill>
                            <a:srgbClr val="ffffff"/>
                          </a:solidFill>
                          <a:uFillTx/>
                          <a:latin typeface="Times New Roman"/>
                        </a:rPr>
                        <a:t>What a strong response demonstrates</a:t>
                      </a:r>
                      <a:endParaRPr b="0" lang="en-US" sz="65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</a:tr>
              <a:tr h="407520">
                <a:tc>
                  <a:txBody>
                    <a:bodyPr lIns="0" rIns="0" tIns="88560" bIns="0" anchor="t">
                      <a:noAutofit/>
                    </a:bodyPr>
                    <a:p>
                      <a:pPr marL="68760" defTabSz="91440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-3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Problem understanding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88560" bIns="0" anchor="t">
                      <a:noAutofit/>
                    </a:bodyPr>
                    <a:p>
                      <a:pPr marL="68760" defTabSz="91440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17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25%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1080" bIns="0" anchor="t">
                      <a:noAutofit/>
                    </a:bodyPr>
                    <a:p>
                      <a:pPr marL="6876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3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Defines the problem and identifies all relevant 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68760" defTabSz="914400">
                        <a:lnSpc>
                          <a:spcPts val="879"/>
                        </a:lnSpc>
                        <a:spcBef>
                          <a:spcPts val="490"/>
                        </a:spcBef>
                        <a:tabLst>
                          <a:tab algn="l" pos="0"/>
                        </a:tabLst>
                      </a:pPr>
                      <a:r>
                        <a:rPr b="0" lang="en-US" sz="65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constraints accurately.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06080">
                <a:tc>
                  <a:txBody>
                    <a:bodyPr lIns="0" rIns="0" tIns="88560" bIns="0" anchor="t">
                      <a:noAutofit/>
                    </a:bodyPr>
                    <a:p>
                      <a:pPr marL="6876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-3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Constraint analysis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lIns="0" rIns="0" tIns="88560" bIns="0" anchor="t">
                      <a:noAutofit/>
                    </a:bodyPr>
                    <a:p>
                      <a:pPr marL="6876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17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25%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lIns="0" rIns="0" tIns="2520" bIns="0" anchor="t">
                      <a:noAutofit/>
                    </a:bodyPr>
                    <a:p>
                      <a:pPr marL="68760" defTabSz="91440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6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Analyses constraints effectively and prioritises 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68760" defTabSz="914400">
                        <a:lnSpc>
                          <a:spcPts val="870"/>
                        </a:lnSpc>
                        <a:spcBef>
                          <a:spcPts val="499"/>
                        </a:spcBef>
                        <a:tabLst>
                          <a:tab algn="l" pos="0"/>
                        </a:tabLst>
                      </a:pPr>
                      <a:r>
                        <a:rPr b="0" lang="en-US" sz="650" spc="6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them logically.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406080">
                <a:tc>
                  <a:txBody>
                    <a:bodyPr lIns="0" rIns="0" tIns="88560" bIns="0" anchor="t">
                      <a:noAutofit/>
                    </a:bodyPr>
                    <a:p>
                      <a:pPr marL="68760" defTabSz="91440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Solution development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88560" bIns="0" anchor="t">
                      <a:noAutofit/>
                    </a:bodyPr>
                    <a:p>
                      <a:pPr marL="68760" defTabSz="914400">
                        <a:lnSpc>
                          <a:spcPts val="870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17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25%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1080" bIns="0" anchor="t">
                      <a:noAutofit/>
                    </a:bodyPr>
                    <a:p>
                      <a:pPr marL="6876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6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Develops feasible solutions satisfying all 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68760" defTabSz="914400">
                        <a:lnSpc>
                          <a:spcPts val="870"/>
                        </a:lnSpc>
                        <a:spcBef>
                          <a:spcPts val="530"/>
                        </a:spcBef>
                        <a:tabLst>
                          <a:tab algn="l" pos="0"/>
                        </a:tabLst>
                      </a:pPr>
                      <a:r>
                        <a:rPr b="0" lang="en-US" sz="650" spc="-3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constraints.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33640">
                <a:tc>
                  <a:txBody>
                    <a:bodyPr lIns="0" rIns="0" tIns="3600" bIns="0" anchor="t">
                      <a:noAutofit/>
                    </a:bodyPr>
                    <a:p>
                      <a:pPr marL="6876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Application of concepts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lIns="0" rIns="0" tIns="3600" bIns="0" anchor="t">
                      <a:noAutofit/>
                    </a:bodyPr>
                    <a:p>
                      <a:pPr marL="6876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17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15%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lIns="0" rIns="0" tIns="3600" bIns="0" anchor="t">
                      <a:noAutofit/>
                    </a:bodyPr>
                    <a:p>
                      <a:pPr marL="6876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Applies appropriate concepts, methods or tools.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360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394920">
                <a:tc>
                  <a:txBody>
                    <a:bodyPr lIns="0" rIns="0" tIns="88560" bIns="0" anchor="t">
                      <a:noAutofit/>
                    </a:bodyPr>
                    <a:p>
                      <a:pPr marL="6876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Justification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88560" bIns="0" anchor="t">
                      <a:noAutofit/>
                    </a:bodyPr>
                    <a:p>
                      <a:pPr marL="6876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17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10%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0" rIns="0" tIns="1080" bIns="0" anchor="t">
                      <a:noAutofit/>
                    </a:bodyPr>
                    <a:p>
                      <a:pPr marL="68760" defTabSz="914400">
                        <a:lnSpc>
                          <a:spcPts val="879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3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Provides strong justification with logical 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68760" defTabSz="914400">
                        <a:lnSpc>
                          <a:spcPts val="879"/>
                        </a:lnSpc>
                        <a:spcBef>
                          <a:spcPts val="530"/>
                        </a:spcBef>
                        <a:tabLst>
                          <a:tab algn="l" pos="0"/>
                        </a:tabLst>
                      </a:pPr>
                      <a:r>
                        <a:rPr b="0" lang="en-US" sz="650" spc="-3" strike="noStrike" u="none">
                          <a:solidFill>
                            <a:srgbClr val="000000"/>
                          </a:solidFill>
                          <a:uFillTx/>
                          <a:latin typeface="Times New Roman"/>
                        </a:rPr>
                        <a:t>reasoning.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3600">
                      <a:solidFill>
                        <a:srgbClr val="000000"/>
                      </a:solidFill>
                      <a:prstDash val="solid"/>
                    </a:lnL>
                    <a:lnR w="360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36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5" name="TextBox 2"/>
          <p:cNvSpPr/>
          <p:nvPr/>
        </p:nvSpPr>
        <p:spPr>
          <a:xfrm>
            <a:off x="659160" y="596880"/>
            <a:ext cx="299808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ts val="1678"/>
              </a:lnSpc>
              <a:tabLst>
                <a:tab algn="l" pos="0"/>
              </a:tabLst>
            </a:pPr>
            <a:r>
              <a:rPr b="1" lang="en" sz="1500" spc="6" strike="noStrike" u="none">
                <a:solidFill>
                  <a:srgbClr val="000000"/>
                </a:solidFill>
                <a:uFillTx/>
                <a:latin typeface="Times New Roman"/>
              </a:rPr>
              <a:t>Summary and Assessment Checklist 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239"/>
              </a:lnSpc>
              <a:spcBef>
                <a:spcPts val="1879"/>
              </a:spcBef>
              <a:tabLst>
                <a:tab algn="l" pos="0"/>
              </a:tabLst>
            </a:pPr>
            <a:r>
              <a:rPr b="1" lang="en-US" sz="1100" spc="-3" strike="noStrike" u="none">
                <a:solidFill>
                  <a:srgbClr val="000000"/>
                </a:solidFill>
                <a:uFillTx/>
                <a:latin typeface="Times New Roman"/>
              </a:rPr>
              <a:t>Summary of solutions 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" name="TextBox 5"/>
          <p:cNvSpPr/>
          <p:nvPr/>
        </p:nvSpPr>
        <p:spPr>
          <a:xfrm>
            <a:off x="659160" y="3075840"/>
            <a:ext cx="387936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ts val="1230"/>
              </a:lnSpc>
              <a:tabLst>
                <a:tab algn="l" pos="0"/>
              </a:tabLst>
            </a:pPr>
            <a:r>
              <a:rPr b="1" lang="en" sz="1100" spc="3" strike="noStrike" u="none">
                <a:solidFill>
                  <a:srgbClr val="000000"/>
                </a:solidFill>
                <a:uFillTx/>
                <a:latin typeface="Times New Roman"/>
              </a:rPr>
              <a:t>Submission checklist 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28600" defTabSz="914400">
              <a:lnSpc>
                <a:spcPts val="989"/>
              </a:lnSpc>
              <a:spcBef>
                <a:spcPts val="799"/>
              </a:spcBef>
              <a:tabLst>
                <a:tab algn="l" pos="0"/>
              </a:tabLst>
            </a:pPr>
            <a:r>
              <a:rPr b="0" lang="en-US" sz="900" spc="-23" strike="noStrike" u="none">
                <a:solidFill>
                  <a:srgbClr val="000000"/>
                </a:solidFill>
                <a:uFillTx/>
                <a:latin typeface="Times New Roman"/>
              </a:rPr>
              <a:t>Show the constraint checks and backtracking decisions for the doctor schedule. 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7" name="TextBox 6"/>
          <p:cNvSpPr/>
          <p:nvPr/>
        </p:nvSpPr>
        <p:spPr>
          <a:xfrm>
            <a:off x="659160" y="3526920"/>
            <a:ext cx="51840" cy="75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ts val="1091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000000"/>
                </a:solidFill>
                <a:uFillTx/>
                <a:latin typeface="Symbol"/>
              </a:rPr>
              <a:t>•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100"/>
              </a:lnSpc>
              <a:spcBef>
                <a:spcPts val="490"/>
              </a:spcBef>
              <a:tabLst>
                <a:tab algn="l" pos="0"/>
              </a:tabLst>
            </a:pPr>
            <a:r>
              <a:rPr b="0" lang="en-US" sz="900" strike="noStrike" u="none">
                <a:solidFill>
                  <a:srgbClr val="000000"/>
                </a:solidFill>
                <a:uFillTx/>
                <a:latin typeface="Symbol"/>
              </a:rPr>
              <a:t>•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100"/>
              </a:lnSpc>
              <a:spcBef>
                <a:spcPts val="519"/>
              </a:spcBef>
              <a:tabLst>
                <a:tab algn="l" pos="0"/>
              </a:tabLst>
            </a:pPr>
            <a:r>
              <a:rPr b="0" lang="en-US" sz="900" strike="noStrike" u="none">
                <a:solidFill>
                  <a:srgbClr val="000000"/>
                </a:solidFill>
                <a:uFillTx/>
                <a:latin typeface="Symbol"/>
              </a:rPr>
              <a:t>•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100"/>
              </a:lnSpc>
              <a:spcBef>
                <a:spcPts val="519"/>
              </a:spcBef>
              <a:tabLst>
                <a:tab algn="l" pos="0"/>
              </a:tabLst>
            </a:pPr>
            <a:r>
              <a:rPr b="0" lang="en-US" sz="900" strike="noStrike" u="none">
                <a:solidFill>
                  <a:srgbClr val="000000"/>
                </a:solidFill>
                <a:uFillTx/>
                <a:latin typeface="Symbol"/>
              </a:rPr>
              <a:t>•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8" name="TextBox 7"/>
          <p:cNvSpPr/>
          <p:nvPr/>
        </p:nvSpPr>
        <p:spPr>
          <a:xfrm>
            <a:off x="887760" y="3539520"/>
            <a:ext cx="4295880" cy="73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ts val="989"/>
              </a:lnSpc>
              <a:tabLst>
                <a:tab algn="l" pos="0"/>
              </a:tabLst>
            </a:pPr>
            <a:r>
              <a:rPr b="0" lang="en" sz="900" spc="-23" strike="noStrike" u="none">
                <a:solidFill>
                  <a:srgbClr val="000000"/>
                </a:solidFill>
                <a:uFillTx/>
                <a:latin typeface="Times New Roman"/>
              </a:rPr>
              <a:t>Confirm the intended 5×5 grid and obstacle positions before using the BFS path and cost. 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001"/>
              </a:lnSpc>
              <a:spcBef>
                <a:spcPts val="590"/>
              </a:spcBef>
              <a:tabLst>
                <a:tab algn="l" pos="0"/>
              </a:tabLst>
            </a:pPr>
            <a:r>
              <a:rPr b="0" lang="en-US" sz="900" spc="-23" strike="noStrike" u="none">
                <a:solidFill>
                  <a:srgbClr val="000000"/>
                </a:solidFill>
                <a:uFillTx/>
                <a:latin typeface="Times New Roman"/>
              </a:rPr>
              <a:t>Explain that Manhattan distance is a heuristic but does not control the FIFO ordering of BFS. 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001"/>
              </a:lnSpc>
              <a:spcBef>
                <a:spcPts val="618"/>
              </a:spcBef>
              <a:tabLst>
                <a:tab algn="l" pos="0"/>
              </a:tabLst>
            </a:pPr>
            <a:r>
              <a:rPr b="0" lang="en-US" sz="900" spc="-23" strike="noStrike" u="none">
                <a:solidFill>
                  <a:srgbClr val="000000"/>
                </a:solidFill>
                <a:uFillTx/>
                <a:latin typeface="Times New Roman"/>
              </a:rPr>
              <a:t>Use the stated risk surcharge consistently in rescue-route cost calculations. 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989"/>
              </a:lnSpc>
              <a:spcBef>
                <a:spcPts val="629"/>
              </a:spcBef>
              <a:tabLst>
                <a:tab algn="l" pos="0"/>
              </a:tabLst>
            </a:pPr>
            <a:r>
              <a:rPr b="0" lang="en-US" sz="900" spc="-23" strike="noStrike" u="none">
                <a:solidFill>
                  <a:srgbClr val="000000"/>
                </a:solidFill>
                <a:uFillTx/>
                <a:latin typeface="Times New Roman"/>
              </a:rPr>
              <a:t>State assumptions clearly whenever the question paper omits a grid or risk layout. 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9" name="TextBox 8"/>
          <p:cNvSpPr/>
          <p:nvPr/>
        </p:nvSpPr>
        <p:spPr>
          <a:xfrm>
            <a:off x="659160" y="4470480"/>
            <a:ext cx="2436840" cy="15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ts val="1239"/>
              </a:lnSpc>
              <a:tabLst>
                <a:tab algn="l" pos="0"/>
              </a:tabLst>
            </a:pPr>
            <a:r>
              <a:rPr b="1" lang="en" sz="1100" spc="3" strike="noStrike" u="none">
                <a:solidFill>
                  <a:srgbClr val="000000"/>
                </a:solidFill>
                <a:uFillTx/>
                <a:latin typeface="Times New Roman"/>
              </a:rPr>
              <a:t>Rubric supplied with the question paper 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LibreOfficeDev/24.8.7.2.0$Android_AARCH64 LibreOffice_project/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language>en-US</dc:language>
  <cp:lastModifiedBy/>
  <dcterms:modified xsi:type="dcterms:W3CDTF">2026-10-12T10:44:21Z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