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116B7-C3B5-4CAE-803E-D555278A4A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7F66BB-66B9-435B-9A64-C10FC8E336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/>
          <p:nvPr/>
        </p:nvGraphicFramePr>
        <p:xfrm>
          <a:off x="688320" y="1434960"/>
          <a:ext cx="6309000" cy="19796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54680"/>
                <a:gridCol w="3154680"/>
              </a:tblGrid>
              <a:tr h="493920">
                <a:tc>
                  <a:txBody>
                    <a:bodyPr lIns="0" rIns="0" tIns="145800" bIns="0" anchor="t">
                      <a:noAutofit/>
                    </a:bodyPr>
                    <a:p>
                      <a:pPr marL="67320" defTabSz="91440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NAME: Artificial Intelligence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45800" bIns="0" anchor="t">
                      <a:noAutofit/>
                    </a:bodyPr>
                    <a:p>
                      <a:pPr marL="64800" defTabSz="91440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CODE: CSA1709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5720">
                <a:tc gridSpan="2">
                  <a:txBody>
                    <a:bodyPr lIns="0" rIns="0" tIns="0" bIns="0" anchor="t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111"/>
                        </a:lnSpc>
                        <a:spcBef>
                          <a:spcPts val="3328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2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OUTCOME COVERED 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111"/>
                        </a:lnSpc>
                        <a:spcBef>
                          <a:spcPts val="4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2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120"/>
                        </a:lnSpc>
                        <a:spcBef>
                          <a:spcPts val="1188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2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Assessment Tool Weightage: 35%</a:t>
                      </a:r>
                      <a:endParaRPr b="0" lang="en-US" sz="9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2"/>
          <p:cNvSpPr/>
          <p:nvPr/>
        </p:nvSpPr>
        <p:spPr>
          <a:xfrm>
            <a:off x="2738160" y="601920"/>
            <a:ext cx="229968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lang="en" sz="1600" spc="-40" strike="noStrike" u="none">
                <a:solidFill>
                  <a:srgbClr val="000000"/>
                </a:solidFill>
                <a:uFillTx/>
                <a:latin typeface="Times New Roman"/>
              </a:rPr>
              <a:t>SIMATS ENGINEERING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0800" defTabSz="914400">
              <a:lnSpc>
                <a:spcPts val="1440"/>
              </a:lnSpc>
              <a:spcBef>
                <a:spcPts val="819"/>
              </a:spcBef>
              <a:tabLst>
                <a:tab algn="l" pos="0"/>
              </a:tabLst>
            </a:pPr>
            <a:r>
              <a:rPr b="1" lang="en-US" sz="1250" spc="17" strike="noStrike" u="none">
                <a:solidFill>
                  <a:srgbClr val="000000"/>
                </a:solidFill>
                <a:uFillTx/>
                <a:latin typeface="Times New Roman"/>
              </a:rPr>
              <a:t>ASSESSMENT TOOL 1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TextBox 4"/>
          <p:cNvSpPr/>
          <p:nvPr/>
        </p:nvSpPr>
        <p:spPr>
          <a:xfrm>
            <a:off x="2369880" y="3657600"/>
            <a:ext cx="306792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ts val="1120"/>
              </a:lnSpc>
              <a:tabLst>
                <a:tab algn="l" pos="0"/>
              </a:tabLst>
            </a:pPr>
            <a:r>
              <a:rPr b="1" lang="en" sz="1000" spc="-3" strike="noStrike" u="none">
                <a:solidFill>
                  <a:srgbClr val="000000"/>
                </a:solidFill>
                <a:uFillTx/>
                <a:latin typeface="Times New Roman"/>
              </a:rPr>
              <a:t>QUESTIONS: 5                                      Duration: 1 Hour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120"/>
              </a:lnSpc>
              <a:spcBef>
                <a:spcPts val="221"/>
              </a:spcBef>
              <a:tabLst>
                <a:tab algn="l" pos="0"/>
              </a:tabLst>
            </a:pPr>
            <a:r>
              <a:rPr b="1" lang="en-US" sz="1000" spc="3" strike="noStrike" u="none">
                <a:solidFill>
                  <a:srgbClr val="000000"/>
                </a:solidFill>
                <a:uFillTx/>
                <a:latin typeface="Times New Roman"/>
              </a:rPr>
              <a:t>Total Marks: 50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2489"/>
              </a:spcBef>
              <a:tabLst>
                <a:tab algn="l" pos="0"/>
              </a:tabLst>
            </a:pPr>
            <a:r>
              <a:rPr b="1" lang="en-US" sz="1250" spc="31" strike="noStrike" u="none">
                <a:solidFill>
                  <a:srgbClr val="000000"/>
                </a:solidFill>
                <a:uFillTx/>
                <a:latin typeface="Times New Roman"/>
              </a:rPr>
              <a:t>Annexure A 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1970"/>
              </a:spcBef>
              <a:tabLst>
                <a:tab algn="l" pos="0"/>
              </a:tabLst>
            </a:pPr>
            <a:r>
              <a:rPr b="1" lang="en-US" sz="1250" spc="31" strike="noStrike" u="none">
                <a:solidFill>
                  <a:srgbClr val="000000"/>
                </a:solidFill>
                <a:uFillTx/>
                <a:latin typeface="Times New Roman"/>
              </a:rPr>
              <a:t>Analytical Problem Solving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TextBox 5"/>
          <p:cNvSpPr/>
          <p:nvPr/>
        </p:nvSpPr>
        <p:spPr>
          <a:xfrm>
            <a:off x="685800" y="5221080"/>
            <a:ext cx="597240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60"/>
              </a:lnSpc>
              <a:tabLst>
                <a:tab algn="l" pos="0"/>
              </a:tabLst>
            </a:pPr>
            <a:r>
              <a:rPr b="1" lang="en-US" sz="950" spc="-3" strike="noStrike" u="none">
                <a:solidFill>
                  <a:srgbClr val="000000"/>
                </a:solidFill>
                <a:uFillTx/>
                <a:latin typeface="Times New Roman"/>
              </a:rPr>
              <a:t>Code of Conduct: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69"/>
              </a:spcBef>
              <a:tabLst>
                <a:tab algn="l" pos="0"/>
              </a:tabLst>
            </a:pPr>
            <a:r>
              <a:rPr b="0" lang="en-US" sz="950" spc="-23" strike="noStrike" u="none">
                <a:solidFill>
                  <a:srgbClr val="000000"/>
                </a:solidFill>
                <a:uFillTx/>
                <a:latin typeface="Times New Roman"/>
              </a:rPr>
              <a:t>I  V. Aswanthan Ragesh  certify that this submission is my original work and that I have adhered to the guidelines specified for this 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69"/>
              </a:lnSpc>
              <a:spcBef>
                <a:spcPts val="179"/>
              </a:spcBef>
              <a:tabLst>
                <a:tab algn="l" pos="0"/>
              </a:tabLst>
            </a:pPr>
            <a:r>
              <a:rPr b="0" lang="en-US" sz="950" spc="-23" strike="noStrike" u="none">
                <a:solidFill>
                  <a:srgbClr val="000000"/>
                </a:solidFill>
                <a:uFillTx/>
                <a:latin typeface="Times New Roman"/>
              </a:rPr>
              <a:t>assessment. I understand that any violation of academic integrity rules will result in disciplinary action. 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89"/>
              </a:spcBef>
              <a:tabLst>
                <a:tab algn="l" pos="0"/>
              </a:tabLst>
            </a:pPr>
            <a:r>
              <a:rPr b="0" lang="en-US" sz="950" spc="-23" strike="noStrike" u="none">
                <a:solidFill>
                  <a:srgbClr val="000000"/>
                </a:solidFill>
                <a:uFillTx/>
                <a:latin typeface="Times New Roman"/>
              </a:rPr>
              <a:t>Signature of the student: V. Aswanthan Ragesh 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3"/>
          <p:cNvGraphicFramePr/>
          <p:nvPr/>
        </p:nvGraphicFramePr>
        <p:xfrm>
          <a:off x="688320" y="3241080"/>
          <a:ext cx="6397920" cy="50173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277280"/>
                <a:gridCol w="1281240"/>
                <a:gridCol w="1281240"/>
                <a:gridCol w="1276200"/>
                <a:gridCol w="1281240"/>
              </a:tblGrid>
              <a:tr h="335160">
                <a:tc>
                  <a:txBody>
                    <a:bodyPr lIns="0" rIns="0" tIns="75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Step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Action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4-gallon jug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3-gallon jug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State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Start with both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empty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(0, 0)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Fill the 3-gallon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(0, 3)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Pour 3-gallon 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into 4-gallon 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(3, 0)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544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Fill the 3-gallon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jug again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(3, 3)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9680">
                <a:tc>
                  <a:txBody>
                    <a:bodyPr lIns="0" rIns="0" tIns="2664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Pour into 4-gallon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jug until full (only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gal fits)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64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640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640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(4, 2)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Empty the 4-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gallon 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(0, 2)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47080">
                <a:tc>
                  <a:txBody>
                    <a:bodyPr lIns="0" rIns="0" tIns="2653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Pour remaining 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gal into the 4-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gallon 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53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532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 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6532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(2, 0)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2"/>
          <p:cNvSpPr/>
          <p:nvPr/>
        </p:nvSpPr>
        <p:spPr>
          <a:xfrm>
            <a:off x="685800" y="601920"/>
            <a:ext cx="6255720" cy="24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lang="en" sz="1600" spc="11" strike="noStrike" u="none">
                <a:solidFill>
                  <a:srgbClr val="000000"/>
                </a:solidFill>
                <a:uFillTx/>
                <a:latin typeface="Times New Roman"/>
              </a:rPr>
              <a:t>1. Water Jug Problem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93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Problem statement. Two unmarked jugs have capacities of 4 gallons and 3 gallons. A pump can fill a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jug, water can be discarded, and water can be transferred between jugs. The goal is to obtain exactly 2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gallons in the 4-gallon jug without any additional measuring device.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lang="en-US" sz="1200" spc="6" strike="noStrike" u="none">
                <a:solidFill>
                  <a:srgbClr val="000000"/>
                </a:solidFill>
                <a:uFillTx/>
                <a:latin typeface="Times New Roman"/>
              </a:rPr>
              <a:t>State representation and operators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Represent each state as (x, y), where x is the amount in the 4-gallon jug and y is the amount in the 3-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gallon jug. The initial state is (0, 0), and the goal test is x = 2. Legal operators are filling either jug,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emptying either jug, and pouring water from one jug to the other until the source is empty or the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6" strike="noStrike" u="none">
                <a:solidFill>
                  <a:srgbClr val="000000"/>
                </a:solidFill>
                <a:uFillTx/>
                <a:latin typeface="Times New Roman"/>
              </a:rPr>
              <a:t>receiving jug is full.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685800" y="8605440"/>
            <a:ext cx="59533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1" strike="noStrike" u="none">
                <a:solidFill>
                  <a:srgbClr val="000000"/>
                </a:solidFill>
                <a:uFillTx/>
                <a:latin typeface="Times New Roman"/>
              </a:rPr>
              <a:t>Solution path: (0,0) → (0,3) → (3,0) → (3,3) → (4,2) → (0,2) → (2,0)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1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Conclusion: Exactly 2 gallons are obtained in the 4-gallon jug using only the allowed operations.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3"/>
          <p:cNvGraphicFramePr/>
          <p:nvPr/>
        </p:nvGraphicFramePr>
        <p:xfrm>
          <a:off x="496440" y="2081520"/>
          <a:ext cx="6781320" cy="29955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261520"/>
                <a:gridCol w="2259000"/>
                <a:gridCol w="2260440"/>
              </a:tblGrid>
              <a:tr h="333720"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9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Percept source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588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Information received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Use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6880">
                <a:tc>
                  <a:txBody>
                    <a:bodyPr lIns="0" rIns="0" tIns="1357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Cameras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Images of rocks, terrain, slopes,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obstacles and sample locations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Navigation and visual inspection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lIns="0" rIns="0" tIns="13824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Scientific instruments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Rock/soil composition, chemical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signals and sample measurements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824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Select scientifically useful targets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lIns="0" rIns="0" tIns="1332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Motion and position sensors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Wheel movement, orientation,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position estimates and tilt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Localisation and safe driving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9680">
                <a:tc>
                  <a:txBody>
                    <a:bodyPr lIns="0" rIns="0" tIns="26136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Health and environment sensors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Battery level, temperature,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equipment status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environmental conditions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068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Protect rover and manage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480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resources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4"/>
          <p:cNvGraphicFramePr/>
          <p:nvPr/>
        </p:nvGraphicFramePr>
        <p:xfrm>
          <a:off x="688320" y="5735160"/>
          <a:ext cx="6397920" cy="32281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98960"/>
                <a:gridCol w="3198960"/>
              </a:tblGrid>
              <a:tr h="332640">
                <a:tc>
                  <a:txBody>
                    <a:bodyPr lIns="0" rIns="0" tIns="36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1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Property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Characterisation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2920">
                <a:tc>
                  <a:txBody>
                    <a:bodyPr lIns="0" rIns="0" tIns="1306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Observability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Partially observable: sensors cannot reveal every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hidden property of terrain or samples.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Determinism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Uncertain: wheel slip, dust, terrain and instrument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readings can vary.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5720">
                <a:tc>
                  <a:txBody>
                    <a:bodyPr lIns="0" rIns="0" tIns="2628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Dynamics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environment changes slowly in many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respects, but movement and hazards require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timely decisions.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8160">
                <a:tc>
                  <a:txBody>
                    <a:bodyPr lIns="0" rIns="0" tIns="26784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State/action space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Continuous position and movement, with discrete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choices such as target selection and sample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analysis.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2"/>
          <p:cNvSpPr/>
          <p:nvPr/>
        </p:nvSpPr>
        <p:spPr>
          <a:xfrm>
            <a:off x="685800" y="601920"/>
            <a:ext cx="6388920" cy="13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en" sz="1350" spc="34" strike="noStrike" u="none">
                <a:solidFill>
                  <a:srgbClr val="000000"/>
                </a:solidFill>
                <a:uFillTx/>
                <a:latin typeface="Times New Roman"/>
              </a:rPr>
              <a:t>2. Mars Rover as an Intelligent Agent 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 Mars rover is an autonomous or semi-autonomous agent that senses its surroundings, chooses actions,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and performs scientific exploration. It operates with incomplete information and must account for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terrain, limited energy, communication delays, and equipment safety.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lang="en-US" sz="1200" spc="6" strike="noStrike" u="none">
                <a:solidFill>
                  <a:srgbClr val="000000"/>
                </a:solidFill>
                <a:uFillTx/>
                <a:latin typeface="Times New Roman"/>
              </a:rPr>
              <a:t>i. Percepts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TextBox 5"/>
          <p:cNvSpPr/>
          <p:nvPr/>
        </p:nvSpPr>
        <p:spPr>
          <a:xfrm>
            <a:off x="685800" y="5473800"/>
            <a:ext cx="17370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6" strike="noStrike" u="none">
                <a:solidFill>
                  <a:srgbClr val="000000"/>
                </a:solidFill>
                <a:uFillTx/>
                <a:latin typeface="Times New Roman"/>
              </a:rPr>
              <a:t>ii. Operating environment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3"/>
          <p:cNvGraphicFramePr/>
          <p:nvPr/>
        </p:nvGraphicFramePr>
        <p:xfrm>
          <a:off x="688320" y="596880"/>
          <a:ext cx="6397920" cy="5943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98960"/>
                <a:gridCol w="3198960"/>
              </a:tblGrid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Other agents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Primarily a single-agent task, with human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mission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4"/>
          <p:cNvGraphicFramePr/>
          <p:nvPr/>
        </p:nvGraphicFramePr>
        <p:xfrm>
          <a:off x="688320" y="6283800"/>
          <a:ext cx="6397920" cy="27021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lIns="0" rIns="0" tIns="61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Stage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Rover activity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544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1. Sense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Collect camera, position, scientific and health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data.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2. Update model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Update estimated location, map, target properties,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battery and uncertainty.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796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3. Set/confirm goal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Choose the next science target or safety objective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based on mission priorities.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032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4. Plan and compare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Estimate action outcomes, travel cost, energy use,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scientific value and risk.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8" name="TextBox 2"/>
          <p:cNvSpPr/>
          <p:nvPr/>
        </p:nvSpPr>
        <p:spPr>
          <a:xfrm>
            <a:off x="685800" y="1592640"/>
            <a:ext cx="6363720" cy="45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-3" strike="noStrike" u="none">
                <a:solidFill>
                  <a:srgbClr val="000000"/>
                </a:solidFill>
                <a:uFillTx/>
                <a:latin typeface="Times New Roman"/>
              </a:rPr>
              <a:t>iii. Actions available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Move forward or turn; stop and avoid an obstacle; capture images; select a rock or soil target; position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an instrument; collect or handle a sample when equipped; analyse a sample; transmit findings; request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instructions; and enter a safe mode when power or equipment conditions require it.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iv. Performance evaluation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Evaluate scientific value and reliability of data, number and quality of samples analysed, progress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toward mission targets, navigation safety, energy efficiency, successful communication, equipment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health, and completion of assigned objectives. The rover should maximise useful science while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minimising risk and unnecessary resource use.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39"/>
              </a:lnSpc>
              <a:spcBef>
                <a:spcPts val="1261"/>
              </a:spcBef>
              <a:tabLst>
                <a:tab algn="l" pos="0"/>
              </a:tabLst>
            </a:pPr>
            <a:r>
              <a:rPr b="1" lang="en-US" sz="1350" spc="34" strike="noStrike" u="none">
                <a:solidFill>
                  <a:srgbClr val="000000"/>
                </a:solidFill>
                <a:uFillTx/>
                <a:latin typeface="Times New Roman"/>
              </a:rPr>
              <a:t>2. Mars Rover — Suitable Agent Architecture 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888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v. Recommended architecture: model-based, goal-based agent with utility-based decision-making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 purely reflex agent reacts only to current percepts and may make poor decisions when hazards are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partly hidden or actions have delayed consequences. A model-based agent maintains an internal state of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rover, terrain, known obstacles, targets, resources and uncertainty. A goal-based layer plans toward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mission goals, while a utility measure helps choose between competing safe actions.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lang="en-US" sz="1200" spc="-6" strike="noStrike" u="none">
                <a:solidFill>
                  <a:srgbClr val="000000"/>
                </a:solidFill>
                <a:uFillTx/>
                <a:latin typeface="Times New Roman"/>
              </a:rPr>
              <a:t>Decision cycle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3"/>
          <p:cNvGraphicFramePr/>
          <p:nvPr/>
        </p:nvGraphicFramePr>
        <p:xfrm>
          <a:off x="688320" y="596880"/>
          <a:ext cx="6397920" cy="5814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98960"/>
                <a:gridCol w="3198960"/>
              </a:tblGrid>
              <a:tr h="58140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5. Act and monitor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Execute a safe action, check its outcome, and re-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plan when new percepts arrive.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Box 2"/>
          <p:cNvSpPr/>
          <p:nvPr/>
        </p:nvSpPr>
        <p:spPr>
          <a:xfrm>
            <a:off x="685800" y="1592640"/>
            <a:ext cx="17028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9" strike="noStrike" u="none">
                <a:solidFill>
                  <a:srgbClr val="000000"/>
                </a:solidFill>
                <a:uFillTx/>
                <a:latin typeface="Times New Roman"/>
              </a:rPr>
              <a:t>Why this architecture fits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685800" y="1846440"/>
            <a:ext cx="6948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71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914400" y="1864440"/>
            <a:ext cx="5776920" cy="9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Memory preserves information that cannot be observed in a single image or sensor reading.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1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Planning selects sequences of actions rather than only immediate reactions.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3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Adaptation revises the plan when terrain, sample results or resources differ from expectations.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Safety and utility balance scientific reward against energy, time and damage risk.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Box 6"/>
          <p:cNvSpPr/>
          <p:nvPr/>
        </p:nvSpPr>
        <p:spPr>
          <a:xfrm>
            <a:off x="685800" y="3077280"/>
            <a:ext cx="4136040" cy="22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Illustrative agent loop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WHILE mission is active: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1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11" strike="noStrike" u="none">
                <a:solidFill>
                  <a:srgbClr val="000000"/>
                </a:solidFill>
                <a:uFillTx/>
                <a:latin typeface="Times New Roman"/>
              </a:rPr>
              <a:t>percepts ← read_sensors()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internal_state ← update_model(internal_state, percepts)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goal ← select_next_goal(internal_state, mission_plan)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plan ← choose_plan(internal_state, goal, energy, risk)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action ← first_action(plan)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execute(action)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hazard_detected OR plan_failed: replan_or_enter_safe_mode()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3"/>
          <p:cNvGraphicFramePr/>
          <p:nvPr/>
        </p:nvGraphicFramePr>
        <p:xfrm>
          <a:off x="688320" y="1776600"/>
          <a:ext cx="6397920" cy="36316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lIns="0" rIns="0" tIns="504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Component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9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Formulation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Initial state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 empty chessboard, with no queens placed.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partial assignment of queens to columns; the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index is the column and the value is the row.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Place a queen in a legal square of the next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column.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Transition model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Add one queen to the selected square while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preserving previous placements.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 test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Eight queens are placed and no pair shares a row,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column or diagonal.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400">
                <a:tc>
                  <a:txBody>
                    <a:bodyPr lIns="0" rIns="0" tIns="1306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Path cost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Each placement may have unit cost; the objective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is to find any valid goal state.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"/>
          <p:cNvSpPr/>
          <p:nvPr/>
        </p:nvSpPr>
        <p:spPr>
          <a:xfrm>
            <a:off x="685800" y="599400"/>
            <a:ext cx="607140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3. Eight-Queens Problem: Search-Space Formulation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task is to place eight queens on an 8 × 8 chessboard so that no two queens attack each other. A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queen attacks along its row, column and diagonals.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Problem components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Box 4"/>
          <p:cNvSpPr/>
          <p:nvPr/>
        </p:nvSpPr>
        <p:spPr>
          <a:xfrm>
            <a:off x="685800" y="5819040"/>
            <a:ext cx="6320520" cy="9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-3" strike="noStrike" u="none">
                <a:solidFill>
                  <a:srgbClr val="000000"/>
                </a:solidFill>
                <a:uFillTx/>
                <a:latin typeface="Times New Roman"/>
              </a:rPr>
              <a:t>Useful constraints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one queen is placed in each column, column conflicts are prevented by construction. For queens at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(r₁,c₁) and (r₂,c₂), require r₁ ≠ r₂ and |r₁ − r₂| ≠ |c₁ − c₂|. These conditions prevent same-row and diagonal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attacks.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2"/>
          <p:cNvSpPr/>
          <p:nvPr/>
        </p:nvSpPr>
        <p:spPr>
          <a:xfrm>
            <a:off x="2180520" y="85716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AutoShape 3"/>
          <p:cNvSpPr/>
          <p:nvPr/>
        </p:nvSpPr>
        <p:spPr>
          <a:xfrm>
            <a:off x="2250360" y="98820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AutoShape 4"/>
          <p:cNvSpPr/>
          <p:nvPr/>
        </p:nvSpPr>
        <p:spPr>
          <a:xfrm>
            <a:off x="3674160" y="85716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AutoShape 5"/>
          <p:cNvSpPr/>
          <p:nvPr/>
        </p:nvSpPr>
        <p:spPr>
          <a:xfrm>
            <a:off x="3741480" y="98820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AutoShape 6"/>
          <p:cNvSpPr/>
          <p:nvPr/>
        </p:nvSpPr>
        <p:spPr>
          <a:xfrm>
            <a:off x="5167800" y="857160"/>
            <a:ext cx="74772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AutoShape 7"/>
          <p:cNvSpPr/>
          <p:nvPr/>
        </p:nvSpPr>
        <p:spPr>
          <a:xfrm>
            <a:off x="5235120" y="98820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AutoShape 8"/>
          <p:cNvSpPr/>
          <p:nvPr/>
        </p:nvSpPr>
        <p:spPr>
          <a:xfrm>
            <a:off x="1432440" y="1441440"/>
            <a:ext cx="74772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AutoShape 9"/>
          <p:cNvSpPr/>
          <p:nvPr/>
        </p:nvSpPr>
        <p:spPr>
          <a:xfrm>
            <a:off x="1499760" y="1585080"/>
            <a:ext cx="61056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AutoShape 10"/>
          <p:cNvSpPr/>
          <p:nvPr/>
        </p:nvSpPr>
        <p:spPr>
          <a:xfrm>
            <a:off x="2927520" y="14414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AutoShape 11"/>
          <p:cNvSpPr/>
          <p:nvPr/>
        </p:nvSpPr>
        <p:spPr>
          <a:xfrm>
            <a:off x="2994840" y="15850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AutoShape 12"/>
          <p:cNvSpPr/>
          <p:nvPr/>
        </p:nvSpPr>
        <p:spPr>
          <a:xfrm>
            <a:off x="4420800" y="14414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AutoShape 13"/>
          <p:cNvSpPr/>
          <p:nvPr/>
        </p:nvSpPr>
        <p:spPr>
          <a:xfrm>
            <a:off x="4488120" y="15850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AutoShape 14"/>
          <p:cNvSpPr/>
          <p:nvPr/>
        </p:nvSpPr>
        <p:spPr>
          <a:xfrm>
            <a:off x="5915520" y="14414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AutoShape 15"/>
          <p:cNvSpPr/>
          <p:nvPr/>
        </p:nvSpPr>
        <p:spPr>
          <a:xfrm>
            <a:off x="5985360" y="15850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AutoShape 16"/>
          <p:cNvSpPr/>
          <p:nvPr/>
        </p:nvSpPr>
        <p:spPr>
          <a:xfrm>
            <a:off x="685800" y="20548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AutoShape 17"/>
          <p:cNvSpPr/>
          <p:nvPr/>
        </p:nvSpPr>
        <p:spPr>
          <a:xfrm>
            <a:off x="753120" y="218556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AutoShape 18"/>
          <p:cNvSpPr/>
          <p:nvPr/>
        </p:nvSpPr>
        <p:spPr>
          <a:xfrm>
            <a:off x="2180520" y="20548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AutoShape 19"/>
          <p:cNvSpPr/>
          <p:nvPr/>
        </p:nvSpPr>
        <p:spPr>
          <a:xfrm>
            <a:off x="2250360" y="218556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AutoShape 20"/>
          <p:cNvSpPr/>
          <p:nvPr/>
        </p:nvSpPr>
        <p:spPr>
          <a:xfrm>
            <a:off x="5167800" y="2054880"/>
            <a:ext cx="74772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AutoShape 21"/>
          <p:cNvSpPr/>
          <p:nvPr/>
        </p:nvSpPr>
        <p:spPr>
          <a:xfrm>
            <a:off x="5235120" y="218556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AutoShape 22"/>
          <p:cNvSpPr/>
          <p:nvPr/>
        </p:nvSpPr>
        <p:spPr>
          <a:xfrm>
            <a:off x="1432440" y="2640240"/>
            <a:ext cx="747720" cy="61164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AutoShape 23"/>
          <p:cNvSpPr/>
          <p:nvPr/>
        </p:nvSpPr>
        <p:spPr>
          <a:xfrm>
            <a:off x="1499760" y="2783880"/>
            <a:ext cx="61056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AutoShape 24"/>
          <p:cNvSpPr/>
          <p:nvPr/>
        </p:nvSpPr>
        <p:spPr>
          <a:xfrm>
            <a:off x="2927520" y="2640240"/>
            <a:ext cx="746280" cy="61164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AutoShape 25"/>
          <p:cNvSpPr/>
          <p:nvPr/>
        </p:nvSpPr>
        <p:spPr>
          <a:xfrm>
            <a:off x="2994840" y="27838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AutoShape 26"/>
          <p:cNvSpPr/>
          <p:nvPr/>
        </p:nvSpPr>
        <p:spPr>
          <a:xfrm>
            <a:off x="4420800" y="2640240"/>
            <a:ext cx="746280" cy="61164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AutoShape 27"/>
          <p:cNvSpPr/>
          <p:nvPr/>
        </p:nvSpPr>
        <p:spPr>
          <a:xfrm>
            <a:off x="4488120" y="27838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AutoShape 28"/>
          <p:cNvSpPr/>
          <p:nvPr/>
        </p:nvSpPr>
        <p:spPr>
          <a:xfrm>
            <a:off x="685800" y="32536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AutoShape 29"/>
          <p:cNvSpPr/>
          <p:nvPr/>
        </p:nvSpPr>
        <p:spPr>
          <a:xfrm>
            <a:off x="753120" y="3380760"/>
            <a:ext cx="609120" cy="3297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AutoShape 30"/>
          <p:cNvSpPr/>
          <p:nvPr/>
        </p:nvSpPr>
        <p:spPr>
          <a:xfrm>
            <a:off x="2180520" y="32536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AutoShape 31"/>
          <p:cNvSpPr/>
          <p:nvPr/>
        </p:nvSpPr>
        <p:spPr>
          <a:xfrm>
            <a:off x="2250360" y="3380760"/>
            <a:ext cx="609120" cy="3297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AutoShape 32"/>
          <p:cNvSpPr/>
          <p:nvPr/>
        </p:nvSpPr>
        <p:spPr>
          <a:xfrm>
            <a:off x="3674160" y="32536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AutoShape 33"/>
          <p:cNvSpPr/>
          <p:nvPr/>
        </p:nvSpPr>
        <p:spPr>
          <a:xfrm>
            <a:off x="3741480" y="3380760"/>
            <a:ext cx="609120" cy="3297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AutoShape 34"/>
          <p:cNvSpPr/>
          <p:nvPr/>
        </p:nvSpPr>
        <p:spPr>
          <a:xfrm>
            <a:off x="5167800" y="3253680"/>
            <a:ext cx="74772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AutoShape 35"/>
          <p:cNvSpPr/>
          <p:nvPr/>
        </p:nvSpPr>
        <p:spPr>
          <a:xfrm>
            <a:off x="5235120" y="3380760"/>
            <a:ext cx="609120" cy="3297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AutoShape 36"/>
          <p:cNvSpPr/>
          <p:nvPr/>
        </p:nvSpPr>
        <p:spPr>
          <a:xfrm>
            <a:off x="1432440" y="3839040"/>
            <a:ext cx="74772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AutoShape 37"/>
          <p:cNvSpPr/>
          <p:nvPr/>
        </p:nvSpPr>
        <p:spPr>
          <a:xfrm>
            <a:off x="1499760" y="3966120"/>
            <a:ext cx="61056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AutoShape 38"/>
          <p:cNvSpPr/>
          <p:nvPr/>
        </p:nvSpPr>
        <p:spPr>
          <a:xfrm>
            <a:off x="4420800" y="383904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AutoShape 39"/>
          <p:cNvSpPr/>
          <p:nvPr/>
        </p:nvSpPr>
        <p:spPr>
          <a:xfrm>
            <a:off x="4488120" y="39661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AutoShape 40"/>
          <p:cNvSpPr/>
          <p:nvPr/>
        </p:nvSpPr>
        <p:spPr>
          <a:xfrm>
            <a:off x="5915520" y="383904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AutoShape 41"/>
          <p:cNvSpPr/>
          <p:nvPr/>
        </p:nvSpPr>
        <p:spPr>
          <a:xfrm>
            <a:off x="5985360" y="39661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AutoShape 42"/>
          <p:cNvSpPr/>
          <p:nvPr/>
        </p:nvSpPr>
        <p:spPr>
          <a:xfrm>
            <a:off x="685800" y="442332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AutoShape 43"/>
          <p:cNvSpPr/>
          <p:nvPr/>
        </p:nvSpPr>
        <p:spPr>
          <a:xfrm>
            <a:off x="753120" y="455184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AutoShape 44"/>
          <p:cNvSpPr/>
          <p:nvPr/>
        </p:nvSpPr>
        <p:spPr>
          <a:xfrm>
            <a:off x="2180520" y="442332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AutoShape 45"/>
          <p:cNvSpPr/>
          <p:nvPr/>
        </p:nvSpPr>
        <p:spPr>
          <a:xfrm>
            <a:off x="2250360" y="455184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AutoShape 46"/>
          <p:cNvSpPr/>
          <p:nvPr/>
        </p:nvSpPr>
        <p:spPr>
          <a:xfrm>
            <a:off x="3674160" y="442332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AutoShape 47"/>
          <p:cNvSpPr/>
          <p:nvPr/>
        </p:nvSpPr>
        <p:spPr>
          <a:xfrm>
            <a:off x="3741480" y="455184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AutoShape 48"/>
          <p:cNvSpPr/>
          <p:nvPr/>
        </p:nvSpPr>
        <p:spPr>
          <a:xfrm>
            <a:off x="5167800" y="4423320"/>
            <a:ext cx="74772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AutoShape 49"/>
          <p:cNvSpPr/>
          <p:nvPr/>
        </p:nvSpPr>
        <p:spPr>
          <a:xfrm>
            <a:off x="5235120" y="455184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AutoShape 50"/>
          <p:cNvSpPr/>
          <p:nvPr/>
        </p:nvSpPr>
        <p:spPr>
          <a:xfrm>
            <a:off x="1432440" y="5009040"/>
            <a:ext cx="74772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AutoShape 51"/>
          <p:cNvSpPr/>
          <p:nvPr/>
        </p:nvSpPr>
        <p:spPr>
          <a:xfrm>
            <a:off x="1499760" y="5152320"/>
            <a:ext cx="61056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AutoShape 52"/>
          <p:cNvSpPr/>
          <p:nvPr/>
        </p:nvSpPr>
        <p:spPr>
          <a:xfrm>
            <a:off x="2927520" y="50090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AutoShape 53"/>
          <p:cNvSpPr/>
          <p:nvPr/>
        </p:nvSpPr>
        <p:spPr>
          <a:xfrm>
            <a:off x="2994840" y="51523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AutoShape 54"/>
          <p:cNvSpPr/>
          <p:nvPr/>
        </p:nvSpPr>
        <p:spPr>
          <a:xfrm>
            <a:off x="4420800" y="50090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AutoShape 55"/>
          <p:cNvSpPr/>
          <p:nvPr/>
        </p:nvSpPr>
        <p:spPr>
          <a:xfrm>
            <a:off x="4488120" y="51523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AutoShape 56"/>
          <p:cNvSpPr/>
          <p:nvPr/>
        </p:nvSpPr>
        <p:spPr>
          <a:xfrm>
            <a:off x="5915520" y="5009040"/>
            <a:ext cx="746280" cy="61308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AutoShape 57"/>
          <p:cNvSpPr/>
          <p:nvPr/>
        </p:nvSpPr>
        <p:spPr>
          <a:xfrm>
            <a:off x="5985360" y="51523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AutoShape 58"/>
          <p:cNvSpPr/>
          <p:nvPr/>
        </p:nvSpPr>
        <p:spPr>
          <a:xfrm>
            <a:off x="1432440" y="857160"/>
            <a:ext cx="74772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AutoShape 59"/>
          <p:cNvSpPr/>
          <p:nvPr/>
        </p:nvSpPr>
        <p:spPr>
          <a:xfrm>
            <a:off x="1499760" y="988200"/>
            <a:ext cx="61056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AutoShape 60"/>
          <p:cNvSpPr/>
          <p:nvPr/>
        </p:nvSpPr>
        <p:spPr>
          <a:xfrm>
            <a:off x="2927520" y="85716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AutoShape 61"/>
          <p:cNvSpPr/>
          <p:nvPr/>
        </p:nvSpPr>
        <p:spPr>
          <a:xfrm>
            <a:off x="2994840" y="98820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AutoShape 62"/>
          <p:cNvSpPr/>
          <p:nvPr/>
        </p:nvSpPr>
        <p:spPr>
          <a:xfrm>
            <a:off x="4420800" y="85716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AutoShape 63"/>
          <p:cNvSpPr/>
          <p:nvPr/>
        </p:nvSpPr>
        <p:spPr>
          <a:xfrm>
            <a:off x="4488120" y="98820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AutoShape 64"/>
          <p:cNvSpPr/>
          <p:nvPr/>
        </p:nvSpPr>
        <p:spPr>
          <a:xfrm>
            <a:off x="5915520" y="85716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AutoShape 65"/>
          <p:cNvSpPr/>
          <p:nvPr/>
        </p:nvSpPr>
        <p:spPr>
          <a:xfrm>
            <a:off x="5985360" y="98820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AutoShape 66"/>
          <p:cNvSpPr/>
          <p:nvPr/>
        </p:nvSpPr>
        <p:spPr>
          <a:xfrm>
            <a:off x="685800" y="14414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AutoShape 67"/>
          <p:cNvSpPr/>
          <p:nvPr/>
        </p:nvSpPr>
        <p:spPr>
          <a:xfrm>
            <a:off x="753120" y="15850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AutoShape 68"/>
          <p:cNvSpPr/>
          <p:nvPr/>
        </p:nvSpPr>
        <p:spPr>
          <a:xfrm>
            <a:off x="2180520" y="14414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AutoShape 69"/>
          <p:cNvSpPr/>
          <p:nvPr/>
        </p:nvSpPr>
        <p:spPr>
          <a:xfrm>
            <a:off x="2250360" y="15850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AutoShape 70"/>
          <p:cNvSpPr/>
          <p:nvPr/>
        </p:nvSpPr>
        <p:spPr>
          <a:xfrm>
            <a:off x="3674160" y="14414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AutoShape 71"/>
          <p:cNvSpPr/>
          <p:nvPr/>
        </p:nvSpPr>
        <p:spPr>
          <a:xfrm>
            <a:off x="3741480" y="15850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AutoShape 72"/>
          <p:cNvSpPr/>
          <p:nvPr/>
        </p:nvSpPr>
        <p:spPr>
          <a:xfrm>
            <a:off x="1432440" y="2054880"/>
            <a:ext cx="74772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AutoShape 73"/>
          <p:cNvSpPr/>
          <p:nvPr/>
        </p:nvSpPr>
        <p:spPr>
          <a:xfrm>
            <a:off x="1499760" y="2185560"/>
            <a:ext cx="61056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AutoShape 74"/>
          <p:cNvSpPr/>
          <p:nvPr/>
        </p:nvSpPr>
        <p:spPr>
          <a:xfrm>
            <a:off x="2927520" y="20548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AutoShape 75"/>
          <p:cNvSpPr/>
          <p:nvPr/>
        </p:nvSpPr>
        <p:spPr>
          <a:xfrm>
            <a:off x="2994840" y="218556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AutoShape 76"/>
          <p:cNvSpPr/>
          <p:nvPr/>
        </p:nvSpPr>
        <p:spPr>
          <a:xfrm>
            <a:off x="4420800" y="20548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AutoShape 77"/>
          <p:cNvSpPr/>
          <p:nvPr/>
        </p:nvSpPr>
        <p:spPr>
          <a:xfrm>
            <a:off x="4488120" y="218556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AutoShape 78"/>
          <p:cNvSpPr/>
          <p:nvPr/>
        </p:nvSpPr>
        <p:spPr>
          <a:xfrm>
            <a:off x="5915520" y="20548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AutoShape 79"/>
          <p:cNvSpPr/>
          <p:nvPr/>
        </p:nvSpPr>
        <p:spPr>
          <a:xfrm>
            <a:off x="5985360" y="218556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AutoShape 80"/>
          <p:cNvSpPr/>
          <p:nvPr/>
        </p:nvSpPr>
        <p:spPr>
          <a:xfrm>
            <a:off x="685800" y="2640240"/>
            <a:ext cx="746280" cy="61164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AutoShape 81"/>
          <p:cNvSpPr/>
          <p:nvPr/>
        </p:nvSpPr>
        <p:spPr>
          <a:xfrm>
            <a:off x="753120" y="27838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AutoShape 82"/>
          <p:cNvSpPr/>
          <p:nvPr/>
        </p:nvSpPr>
        <p:spPr>
          <a:xfrm>
            <a:off x="2180520" y="2640240"/>
            <a:ext cx="746280" cy="61164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AutoShape 83"/>
          <p:cNvSpPr/>
          <p:nvPr/>
        </p:nvSpPr>
        <p:spPr>
          <a:xfrm>
            <a:off x="2250360" y="27838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AutoShape 84"/>
          <p:cNvSpPr/>
          <p:nvPr/>
        </p:nvSpPr>
        <p:spPr>
          <a:xfrm>
            <a:off x="3674160" y="2640240"/>
            <a:ext cx="746280" cy="61164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AutoShape 85"/>
          <p:cNvSpPr/>
          <p:nvPr/>
        </p:nvSpPr>
        <p:spPr>
          <a:xfrm>
            <a:off x="3741480" y="27838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AutoShape 86"/>
          <p:cNvSpPr/>
          <p:nvPr/>
        </p:nvSpPr>
        <p:spPr>
          <a:xfrm>
            <a:off x="5167800" y="2640240"/>
            <a:ext cx="747720" cy="61164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AutoShape 87"/>
          <p:cNvSpPr/>
          <p:nvPr/>
        </p:nvSpPr>
        <p:spPr>
          <a:xfrm>
            <a:off x="5235120" y="27838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AutoShape 88"/>
          <p:cNvSpPr/>
          <p:nvPr/>
        </p:nvSpPr>
        <p:spPr>
          <a:xfrm>
            <a:off x="2927520" y="32536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AutoShape 89"/>
          <p:cNvSpPr/>
          <p:nvPr/>
        </p:nvSpPr>
        <p:spPr>
          <a:xfrm>
            <a:off x="2994840" y="3380760"/>
            <a:ext cx="609120" cy="3297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AutoShape 90"/>
          <p:cNvSpPr/>
          <p:nvPr/>
        </p:nvSpPr>
        <p:spPr>
          <a:xfrm>
            <a:off x="4420800" y="32536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AutoShape 91"/>
          <p:cNvSpPr/>
          <p:nvPr/>
        </p:nvSpPr>
        <p:spPr>
          <a:xfrm>
            <a:off x="4488120" y="3380760"/>
            <a:ext cx="609120" cy="3297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AutoShape 92"/>
          <p:cNvSpPr/>
          <p:nvPr/>
        </p:nvSpPr>
        <p:spPr>
          <a:xfrm>
            <a:off x="5915520" y="325368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AutoShape 93"/>
          <p:cNvSpPr/>
          <p:nvPr/>
        </p:nvSpPr>
        <p:spPr>
          <a:xfrm>
            <a:off x="5985360" y="3380760"/>
            <a:ext cx="609120" cy="3297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AutoShape 94"/>
          <p:cNvSpPr/>
          <p:nvPr/>
        </p:nvSpPr>
        <p:spPr>
          <a:xfrm>
            <a:off x="685800" y="383904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AutoShape 95"/>
          <p:cNvSpPr/>
          <p:nvPr/>
        </p:nvSpPr>
        <p:spPr>
          <a:xfrm>
            <a:off x="753120" y="39661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AutoShape 96"/>
          <p:cNvSpPr/>
          <p:nvPr/>
        </p:nvSpPr>
        <p:spPr>
          <a:xfrm>
            <a:off x="2180520" y="383904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AutoShape 97"/>
          <p:cNvSpPr/>
          <p:nvPr/>
        </p:nvSpPr>
        <p:spPr>
          <a:xfrm>
            <a:off x="2250360" y="39661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AutoShape 98"/>
          <p:cNvSpPr/>
          <p:nvPr/>
        </p:nvSpPr>
        <p:spPr>
          <a:xfrm>
            <a:off x="3674160" y="3839040"/>
            <a:ext cx="74628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AutoShape 99"/>
          <p:cNvSpPr/>
          <p:nvPr/>
        </p:nvSpPr>
        <p:spPr>
          <a:xfrm>
            <a:off x="3741480" y="39661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AutoShape 100"/>
          <p:cNvSpPr/>
          <p:nvPr/>
        </p:nvSpPr>
        <p:spPr>
          <a:xfrm>
            <a:off x="5167800" y="3839040"/>
            <a:ext cx="747720" cy="58392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6" name="AutoShape 101"/>
          <p:cNvSpPr/>
          <p:nvPr/>
        </p:nvSpPr>
        <p:spPr>
          <a:xfrm>
            <a:off x="5235120" y="39661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AutoShape 102"/>
          <p:cNvSpPr/>
          <p:nvPr/>
        </p:nvSpPr>
        <p:spPr>
          <a:xfrm>
            <a:off x="1432440" y="4423320"/>
            <a:ext cx="74772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AutoShape 103"/>
          <p:cNvSpPr/>
          <p:nvPr/>
        </p:nvSpPr>
        <p:spPr>
          <a:xfrm>
            <a:off x="1499760" y="4551840"/>
            <a:ext cx="61056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AutoShape 104"/>
          <p:cNvSpPr/>
          <p:nvPr/>
        </p:nvSpPr>
        <p:spPr>
          <a:xfrm>
            <a:off x="2927520" y="442332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AutoShape 105"/>
          <p:cNvSpPr/>
          <p:nvPr/>
        </p:nvSpPr>
        <p:spPr>
          <a:xfrm>
            <a:off x="2994840" y="455184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AutoShape 106"/>
          <p:cNvSpPr/>
          <p:nvPr/>
        </p:nvSpPr>
        <p:spPr>
          <a:xfrm>
            <a:off x="5915520" y="442332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AutoShape 107"/>
          <p:cNvSpPr/>
          <p:nvPr/>
        </p:nvSpPr>
        <p:spPr>
          <a:xfrm>
            <a:off x="5985360" y="455184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AutoShape 108"/>
          <p:cNvSpPr/>
          <p:nvPr/>
        </p:nvSpPr>
        <p:spPr>
          <a:xfrm>
            <a:off x="685800" y="50090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AutoShape 109"/>
          <p:cNvSpPr/>
          <p:nvPr/>
        </p:nvSpPr>
        <p:spPr>
          <a:xfrm>
            <a:off x="753120" y="51523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AutoShape 110"/>
          <p:cNvSpPr/>
          <p:nvPr/>
        </p:nvSpPr>
        <p:spPr>
          <a:xfrm>
            <a:off x="3674160" y="50090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AutoShape 111"/>
          <p:cNvSpPr/>
          <p:nvPr/>
        </p:nvSpPr>
        <p:spPr>
          <a:xfrm>
            <a:off x="3741480" y="51523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AutoShape 112"/>
          <p:cNvSpPr/>
          <p:nvPr/>
        </p:nvSpPr>
        <p:spPr>
          <a:xfrm>
            <a:off x="5167800" y="5009040"/>
            <a:ext cx="74772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AutoShape 113"/>
          <p:cNvSpPr/>
          <p:nvPr/>
        </p:nvSpPr>
        <p:spPr>
          <a:xfrm>
            <a:off x="5235120" y="51523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AutoShape 114"/>
          <p:cNvSpPr/>
          <p:nvPr/>
        </p:nvSpPr>
        <p:spPr>
          <a:xfrm>
            <a:off x="685800" y="85716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AutoShape 115"/>
          <p:cNvSpPr/>
          <p:nvPr/>
        </p:nvSpPr>
        <p:spPr>
          <a:xfrm>
            <a:off x="753120" y="98820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AutoShape 116"/>
          <p:cNvSpPr/>
          <p:nvPr/>
        </p:nvSpPr>
        <p:spPr>
          <a:xfrm>
            <a:off x="3674160" y="2054880"/>
            <a:ext cx="746280" cy="58500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AutoShape 117"/>
          <p:cNvSpPr/>
          <p:nvPr/>
        </p:nvSpPr>
        <p:spPr>
          <a:xfrm>
            <a:off x="3741480" y="218556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AutoShape 118"/>
          <p:cNvSpPr/>
          <p:nvPr/>
        </p:nvSpPr>
        <p:spPr>
          <a:xfrm>
            <a:off x="5915520" y="2640240"/>
            <a:ext cx="746280" cy="61164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AutoShape 119"/>
          <p:cNvSpPr/>
          <p:nvPr/>
        </p:nvSpPr>
        <p:spPr>
          <a:xfrm>
            <a:off x="5985360" y="278388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AutoShape 120"/>
          <p:cNvSpPr/>
          <p:nvPr/>
        </p:nvSpPr>
        <p:spPr>
          <a:xfrm>
            <a:off x="2927520" y="3839040"/>
            <a:ext cx="746280" cy="58392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AutoShape 121"/>
          <p:cNvSpPr/>
          <p:nvPr/>
        </p:nvSpPr>
        <p:spPr>
          <a:xfrm>
            <a:off x="2994840" y="3966120"/>
            <a:ext cx="609120" cy="326160"/>
          </a:xfrm>
          <a:prstGeom prst="rect">
            <a:avLst/>
          </a:prstGeom>
          <a:solidFill>
            <a:srgbClr val="e8ec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AutoShape 122"/>
          <p:cNvSpPr/>
          <p:nvPr/>
        </p:nvSpPr>
        <p:spPr>
          <a:xfrm>
            <a:off x="5167800" y="1441440"/>
            <a:ext cx="74772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AutoShape 123"/>
          <p:cNvSpPr/>
          <p:nvPr/>
        </p:nvSpPr>
        <p:spPr>
          <a:xfrm>
            <a:off x="5235120" y="158508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AutoShape 124"/>
          <p:cNvSpPr/>
          <p:nvPr/>
        </p:nvSpPr>
        <p:spPr>
          <a:xfrm>
            <a:off x="1432440" y="3253680"/>
            <a:ext cx="74772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AutoShape 125"/>
          <p:cNvSpPr/>
          <p:nvPr/>
        </p:nvSpPr>
        <p:spPr>
          <a:xfrm>
            <a:off x="1499760" y="3380760"/>
            <a:ext cx="610560" cy="3297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AutoShape 126"/>
          <p:cNvSpPr/>
          <p:nvPr/>
        </p:nvSpPr>
        <p:spPr>
          <a:xfrm>
            <a:off x="4420800" y="4423320"/>
            <a:ext cx="746280" cy="58500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AutoShape 127"/>
          <p:cNvSpPr/>
          <p:nvPr/>
        </p:nvSpPr>
        <p:spPr>
          <a:xfrm>
            <a:off x="4488120" y="455184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AutoShape 128"/>
          <p:cNvSpPr/>
          <p:nvPr/>
        </p:nvSpPr>
        <p:spPr>
          <a:xfrm>
            <a:off x="2180520" y="5009040"/>
            <a:ext cx="746280" cy="61308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AutoShape 129"/>
          <p:cNvSpPr/>
          <p:nvPr/>
        </p:nvSpPr>
        <p:spPr>
          <a:xfrm>
            <a:off x="2250360" y="5152320"/>
            <a:ext cx="609120" cy="326160"/>
          </a:xfrm>
          <a:prstGeom prst="rect">
            <a:avLst/>
          </a:prstGeom>
          <a:solidFill>
            <a:srgbClr val="7890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TextBox 130"/>
          <p:cNvSpPr/>
          <p:nvPr/>
        </p:nvSpPr>
        <p:spPr>
          <a:xfrm>
            <a:off x="685800" y="599400"/>
            <a:ext cx="20012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11" strike="noStrike" u="none">
                <a:solidFill>
                  <a:srgbClr val="000000"/>
                </a:solidFill>
                <a:uFillTx/>
                <a:latin typeface="Times New Roman"/>
              </a:rPr>
              <a:t>Illustrative valid arrangement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7320"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131"/>
          <p:cNvSpPr/>
          <p:nvPr/>
        </p:nvSpPr>
        <p:spPr>
          <a:xfrm>
            <a:off x="5235120" y="1590120"/>
            <a:ext cx="1191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14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132"/>
          <p:cNvSpPr/>
          <p:nvPr/>
        </p:nvSpPr>
        <p:spPr>
          <a:xfrm>
            <a:off x="3741480" y="2190600"/>
            <a:ext cx="1177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Box 133"/>
          <p:cNvSpPr/>
          <p:nvPr/>
        </p:nvSpPr>
        <p:spPr>
          <a:xfrm>
            <a:off x="5985360" y="2787480"/>
            <a:ext cx="1177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Box 134"/>
          <p:cNvSpPr/>
          <p:nvPr/>
        </p:nvSpPr>
        <p:spPr>
          <a:xfrm>
            <a:off x="1499760" y="3385800"/>
            <a:ext cx="16124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14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309040" defTabSz="914400">
              <a:lnSpc>
                <a:spcPts val="1329"/>
              </a:lnSpc>
              <a:spcBef>
                <a:spcPts val="3280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Box 135"/>
          <p:cNvSpPr/>
          <p:nvPr/>
        </p:nvSpPr>
        <p:spPr>
          <a:xfrm>
            <a:off x="4488120" y="4556880"/>
            <a:ext cx="1177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Box 136"/>
          <p:cNvSpPr/>
          <p:nvPr/>
        </p:nvSpPr>
        <p:spPr>
          <a:xfrm>
            <a:off x="685800" y="5157360"/>
            <a:ext cx="6324120" cy="37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Q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5440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Search strategy and pseudocode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Backtracking depth-first search places a queen in the next column, checks conflicts, and continues only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safe. If no row is safe, it removes the previous queen and tries another row.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3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SOLVE(column):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column = 9: return success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FOR each row from 1 to 8: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square(row, column) is safe: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place queen(row, column)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SOLVE(column + 1): return success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remove queen(row, column)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return failure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Table 3"/>
          <p:cNvGraphicFramePr/>
          <p:nvPr/>
        </p:nvGraphicFramePr>
        <p:xfrm>
          <a:off x="478800" y="2039760"/>
          <a:ext cx="6820920" cy="31111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258560"/>
                <a:gridCol w="5562360"/>
              </a:tblGrid>
              <a:tr h="332640">
                <a:tc>
                  <a:txBody>
                    <a:bodyPr lIns="0" rIns="0" tIns="504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Element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OLA booking interpretation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lIns="0" rIns="0" tIns="3924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Initial state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924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Customer has opened the app; pickup and destination may not yet be confirmed.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0" rIns="0" tIns="13572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 state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suitable cab is selected and booking is confirmed, or the user is informed that no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option is available.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5440">
                <a:tc>
                  <a:txBody>
                    <a:bodyPr lIns="0" rIns="0" tIns="13320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Enter locations, validate them, request cab categories, compare fare/ETA, select,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confirm, edit or cancel.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lIns="0" rIns="0" tIns="13176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Locations must be valid; cab must be available; choice should respect preferences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5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displayed fare.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0320">
                <a:tc>
                  <a:txBody>
                    <a:bodyPr lIns="0" rIns="0" tIns="13176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Evaluation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Successful booking, suitable ETA and fare, preference match, and clear handling of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unavailable options.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3" name="TextBox 2"/>
          <p:cNvSpPr/>
          <p:nvPr/>
        </p:nvSpPr>
        <p:spPr>
          <a:xfrm>
            <a:off x="685800" y="599400"/>
            <a:ext cx="6267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-3" strike="noStrike" u="none">
                <a:solidFill>
                  <a:srgbClr val="000000"/>
                </a:solidFill>
                <a:uFillTx/>
                <a:latin typeface="Times New Roman"/>
              </a:rPr>
              <a:t>4. OLA Cab Booking as a Problem-Solving Agent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customer enters a pickup location and destination and may select a cab category such as Mini,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Micro, Sedan, Shared or Prime. A goal-based problem-solving agent can search for a feasible booking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plan, with utility-based selection when several options are available.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Problem formulation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685800" y="5562720"/>
            <a:ext cx="3755160" cy="38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-6" strike="noStrike" u="none">
                <a:solidFill>
                  <a:srgbClr val="000000"/>
                </a:solidFill>
                <a:uFillTx/>
                <a:latin typeface="Times New Roman"/>
              </a:rPr>
              <a:t>Pseudocode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BEGIN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17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17" strike="noStrike" u="none">
                <a:solidFill>
                  <a:srgbClr val="000000"/>
                </a:solidFill>
                <a:uFillTx/>
                <a:latin typeface="Times New Roman"/>
              </a:rPr>
              <a:t>pickup ← get_pickup_location()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destination ← get_destination()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pickup is invalid OR destination is invalid: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display("Please enter valid locations")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STOP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9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9" strike="noStrike" u="none">
                <a:solidFill>
                  <a:srgbClr val="000000"/>
                </a:solidFill>
                <a:uFillTx/>
                <a:latin typeface="Times New Roman"/>
              </a:rPr>
              <a:t>preferences ← get_user_preferences()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cab_options ← request_available_cabs(pickup, destination)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cab_options is empty: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display("No cabs available; try again later")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STOP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17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17" strike="noStrike" u="none">
                <a:solidFill>
                  <a:srgbClr val="000000"/>
                </a:solidFill>
                <a:uFillTx/>
                <a:latin typeface="Times New Roman"/>
              </a:rPr>
              <a:t>feasible_options ← filter(cab_options, preferences)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feasible_options is empty: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feasible_options ← cab_options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Table 3"/>
          <p:cNvGraphicFramePr/>
          <p:nvPr/>
        </p:nvGraphicFramePr>
        <p:xfrm>
          <a:off x="688320" y="3091320"/>
          <a:ext cx="6397920" cy="21765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lIns="0" rIns="0" tIns="36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Input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Decision / action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Outcome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26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Locations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Validate pickup and destination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Continue only when valid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lIns="0" rIns="0" tIns="1306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Cab request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Fetch available categories, fares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and ETAs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06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Show choices or report none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Preferences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Filter by category, budget or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732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comfort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Present suitable options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Confirmation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Ask customer to confirm choice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Create booking and show status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66" name="TextBox 2"/>
          <p:cNvSpPr/>
          <p:nvPr/>
        </p:nvSpPr>
        <p:spPr>
          <a:xfrm>
            <a:off x="685800" y="595800"/>
            <a:ext cx="4092840" cy="24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39240" defTabSz="914400">
              <a:lnSpc>
                <a:spcPts val="132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display_fare_and_ETA(feasible_options)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14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14" strike="noStrike" u="none">
                <a:solidFill>
                  <a:srgbClr val="000000"/>
                </a:solidFill>
                <a:uFillTx/>
                <a:latin typeface="Times New Roman"/>
              </a:rPr>
              <a:t>selected_cab ← get_customer_selection(feasible_options)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IF selected_cab is confirmed by customer: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booking ← confirm_booking(selected_cab, pickup, destination)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display_booking_status(booking)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924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ELSE: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display("Booking not confirmed")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END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lang="en-US" sz="1200" spc="-14" strike="noStrike" u="none">
                <a:solidFill>
                  <a:srgbClr val="000000"/>
                </a:solidFill>
                <a:uFillTx/>
                <a:latin typeface="Times New Roman"/>
              </a:rPr>
              <a:t>Decision flow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685800" y="5610960"/>
            <a:ext cx="59331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This is a conceptual assessment model. Real booking requires live location, availability, fare and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payment services.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Table 3"/>
          <p:cNvGraphicFramePr/>
          <p:nvPr/>
        </p:nvGraphicFramePr>
        <p:xfrm>
          <a:off x="688320" y="2627640"/>
          <a:ext cx="6397920" cy="16531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601280"/>
                <a:gridCol w="1597320"/>
                <a:gridCol w="1600200"/>
                <a:gridCol w="1598760"/>
              </a:tblGrid>
              <a:tr h="332640">
                <a:tc>
                  <a:txBody>
                    <a:bodyPr lIns="0" rIns="0" tIns="360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Edge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Cost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Edge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Cost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6240"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A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→ B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→ C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480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 → 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 → 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480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69" name="TextBox 2"/>
          <p:cNvSpPr/>
          <p:nvPr/>
        </p:nvSpPr>
        <p:spPr>
          <a:xfrm>
            <a:off x="685800" y="599400"/>
            <a:ext cx="6124680" cy="186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-6" strike="noStrike" u="none">
                <a:solidFill>
                  <a:srgbClr val="000000"/>
                </a:solidFill>
                <a:uFillTx/>
                <a:latin typeface="Times New Roman"/>
              </a:rPr>
              <a:t>5. Uniform Cost Search (UCS) for the Delivery Network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logistics company wants the least-cost route from start node S to goal node G. Edge weights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represent travel cost combining fuel and time. UCS expands the frontier node with the lowest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accumulated path cost g(n), not the node with the fewest edges.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lang="en-US" sz="1200" spc="3" strike="noStrike" u="none">
                <a:solidFill>
                  <a:srgbClr val="000000"/>
                </a:solidFill>
                <a:uFillTx/>
                <a:latin typeface="Times New Roman"/>
              </a:rPr>
              <a:t>Weighted graph from the question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lang="en-US" sz="1200" spc="-3" strike="noStrike" u="none">
                <a:solidFill>
                  <a:srgbClr val="000000"/>
                </a:solidFill>
                <a:uFillTx/>
                <a:latin typeface="Times New Roman"/>
              </a:rPr>
              <a:t>Edge list for the supplied network: S→A (1), S→G (12), A→B (3), A→C (1), B→D (3), C→D (1),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C→G (2), D→G (3).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685800" y="4690080"/>
            <a:ext cx="6420600" cy="17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000000"/>
                </a:solidFill>
                <a:uFillTx/>
                <a:latin typeface="Times New Roman"/>
              </a:rPr>
              <a:t>UCS procedure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ts val="1341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pc="-11" strike="noStrike" u="none">
                <a:solidFill>
                  <a:srgbClr val="000000"/>
                </a:solidFill>
                <a:uFillTx/>
                <a:latin typeface="Times New Roman"/>
              </a:rPr>
              <a:t>1.</a:t>
            </a:r>
            <a:r>
              <a:rPr b="0" lang="en-US" sz="1200" spc="9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Put S in a priority queue with cost 0.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2. Remove the node with the smallest accumulated cost.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3. If it is G, return the path and cost.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4. Otherwise expand outgoing edges and insert/update successors with cumulative cost.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5. Ignore a more expensive route to a state when a cheaper route is already recorded. Repeat until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G is removed or the queue is empty.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 3"/>
          <p:cNvGraphicFramePr/>
          <p:nvPr/>
        </p:nvGraphicFramePr>
        <p:xfrm>
          <a:off x="688320" y="859680"/>
          <a:ext cx="6397920" cy="25941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632160"/>
                <a:gridCol w="1078200"/>
                <a:gridCol w="3085920"/>
                <a:gridCol w="1601280"/>
              </a:tblGrid>
              <a:tr h="59796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Step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Expanded 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9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node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Candidate paths / costs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3572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Frontier (lowest first)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(0)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= 1; G = 12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A(1), G(12)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 (1)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 = 1+3 = 4; C = 1+1 = 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C(2), B(4), G(12)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120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 (2)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 = 2+1 = 3; G = 2+2 = 4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D(3), B(4), G(4), G(12)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 (3)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 = 3+3 = 6; route via B costs more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B(4), G(4), G(6), G(12)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26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 (4)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 via B = 4+3 = 7, worse than known cost 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G(4), G(6), G(12)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lIns="0" rIns="0" tIns="504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 (4)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 reached; stop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87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—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4"/>
          <p:cNvGraphicFramePr/>
          <p:nvPr/>
        </p:nvGraphicFramePr>
        <p:xfrm>
          <a:off x="688320" y="4439880"/>
          <a:ext cx="6397920" cy="16506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Route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Calculation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Total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A → C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+ 1 + 2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A → C → D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+ 1 + 1 + 3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A → B → D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+ 3 + 3 + 3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10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→ 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12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73" name="TextBox 2"/>
          <p:cNvSpPr/>
          <p:nvPr/>
        </p:nvSpPr>
        <p:spPr>
          <a:xfrm>
            <a:off x="685800" y="599400"/>
            <a:ext cx="10929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Expansion trace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685800" y="3788280"/>
            <a:ext cx="393912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Least-cost result: S → A → C → G; total cost = 1 + 1 + 2 = 4.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Candidate route comparison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685800" y="6433920"/>
            <a:ext cx="63964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UCS is appropriate because the edge costs are non-negative and the goal is to minimise cumulative cost.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optimal path in the supplied network has cost 4.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Table 3"/>
          <p:cNvGraphicFramePr/>
          <p:nvPr/>
        </p:nvGraphicFramePr>
        <p:xfrm>
          <a:off x="688320" y="1251000"/>
          <a:ext cx="6397920" cy="33091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259640"/>
                <a:gridCol w="2430720"/>
                <a:gridCol w="2707560"/>
              </a:tblGrid>
              <a:tr h="331200">
                <a:tc>
                  <a:txBody>
                    <a:bodyPr lIns="0" rIns="0" tIns="25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Question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Main concept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Key result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7960">
                <a:tc>
                  <a:txBody>
                    <a:bodyPr lIns="0" rIns="0" tIns="13572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1. Water Jug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588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State-space search and legal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588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operators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228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Reach state (2, 0): exactly 2 gallons in the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228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4-gallon jug.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92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2. Mars Rover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Intelligent-agent design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Use percepts, an environment model,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228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goals and utility to explore safely.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3. Eight Queens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 satisfaction and search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Backtracking with row and diagonal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2280" defTabSz="91440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checks finds a valid board.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0" rIns="0" tIns="13068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4. OLA Booking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068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Goal-based problem-solving agent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228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Validate locations, compare cab choices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228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and confirm a booking.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5. Logistics UCS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58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Lowest cumulative-cost search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228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Optimal route S → A → C → G with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228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14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cost 4.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7" name="Table 4"/>
          <p:cNvGraphicFramePr/>
          <p:nvPr/>
        </p:nvGraphicFramePr>
        <p:xfrm>
          <a:off x="688320" y="6982560"/>
          <a:ext cx="6397920" cy="24382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lIns="0" rIns="0" tIns="504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9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Criterion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Weightage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3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Strong response demonstrates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Problem understanding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Identifies all parameters and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requirements accurately.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Method selection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31760" bIns="0" anchor="t">
                      <a:noAutofit/>
                    </a:bodyPr>
                    <a:p>
                      <a:pPr marL="6732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Chooses the appropriate method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and justifies it.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4360"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Solution process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320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25%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Uses logical, systematic steps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3360" defTabSz="91440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throughout.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Accuracy of calculation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732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20%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3360" defTabSz="9144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3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Shows accurate calculations.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78" name="TextBox 2"/>
          <p:cNvSpPr/>
          <p:nvPr/>
        </p:nvSpPr>
        <p:spPr>
          <a:xfrm>
            <a:off x="685800" y="599400"/>
            <a:ext cx="2398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6" strike="noStrike" u="none">
                <a:solidFill>
                  <a:srgbClr val="000000"/>
                </a:solidFill>
                <a:uFillTx/>
                <a:latin typeface="Times New Roman"/>
              </a:rPr>
              <a:t>Summary and Assessment Checklist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lang="en-US" sz="1200" spc="6" strike="noStrike" u="none">
                <a:solidFill>
                  <a:srgbClr val="000000"/>
                </a:solidFill>
                <a:uFillTx/>
                <a:latin typeface="Times New Roman"/>
              </a:rPr>
              <a:t>Summary of answers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685800" y="4959360"/>
            <a:ext cx="22093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Quality checks before submission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685800" y="5216040"/>
            <a:ext cx="69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914400" y="5233680"/>
            <a:ext cx="490824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lang="en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Each solution identifies the task and method used.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State transitions, constraints and path costs are shown explicitly where relevant.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Diagrams and tables support the written explanation.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The final result is stated clearly for every question.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lang="en-US" sz="1200" spc="-31" strike="noStrike" u="none">
                <a:solidFill>
                  <a:srgbClr val="000000"/>
                </a:solidFill>
                <a:uFillTx/>
                <a:latin typeface="Times New Roman"/>
              </a:rPr>
              <a:t>Complete student name, registration number and signature on the cover page.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685800" y="6720840"/>
            <a:ext cx="26604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lang="en" sz="1200" spc="3" strike="noStrike" u="none">
                <a:solidFill>
                  <a:srgbClr val="000000"/>
                </a:solidFill>
                <a:uFillTx/>
                <a:latin typeface="Times New Roman"/>
              </a:rPr>
              <a:t>Rubric supplied with the question paper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2026-10-12T10:40:05Z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